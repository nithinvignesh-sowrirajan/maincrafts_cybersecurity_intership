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40" y="1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115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9281160" y="502920"/>
            <a:ext cx="3108960" cy="3108960"/>
          </a:xfrm>
          <a:prstGeom prst="ellipse">
            <a:avLst/>
          </a:prstGeom>
          <a:solidFill>
            <a:srgbClr val="13294B"/>
          </a:solidFill>
          <a:ln/>
        </p:spPr>
      </p:sp>
      <p:sp>
        <p:nvSpPr>
          <p:cNvPr id="3" name="Shape 1"/>
          <p:cNvSpPr/>
          <p:nvPr/>
        </p:nvSpPr>
        <p:spPr>
          <a:xfrm>
            <a:off x="9829800" y="1051560"/>
            <a:ext cx="2011680" cy="2011680"/>
          </a:xfrm>
          <a:prstGeom prst="ellipse">
            <a:avLst/>
          </a:prstGeom>
          <a:solidFill>
            <a:srgbClr val="1C3660"/>
          </a:solidFill>
          <a:ln/>
        </p:spPr>
      </p:sp>
      <p:sp>
        <p:nvSpPr>
          <p:cNvPr id="4" name="Shape 2"/>
          <p:cNvSpPr/>
          <p:nvPr/>
        </p:nvSpPr>
        <p:spPr>
          <a:xfrm>
            <a:off x="10469880" y="1691640"/>
            <a:ext cx="731520" cy="731520"/>
          </a:xfrm>
          <a:prstGeom prst="ellipse">
            <a:avLst/>
          </a:prstGeom>
          <a:solidFill>
            <a:srgbClr val="00D9C0"/>
          </a:solidFill>
          <a:ln/>
        </p:spPr>
      </p:sp>
      <p:pic>
        <p:nvPicPr>
          <p:cNvPr id="5" name="Image 0" descr="/home/claude/deck/icon_shield.png"/>
          <p:cNvPicPr>
            <a:picLocks noChangeAspect="1"/>
          </p:cNvPicPr>
          <p:nvPr/>
        </p:nvPicPr>
        <p:blipFill>
          <a:blip r:embed="rId3"/>
          <a:stretch>
            <a:fillRect/>
          </a:stretch>
        </p:blipFill>
        <p:spPr>
          <a:xfrm>
            <a:off x="10643616" y="1865376"/>
            <a:ext cx="384048" cy="384048"/>
          </a:xfrm>
          <a:prstGeom prst="rect">
            <a:avLst/>
          </a:prstGeom>
        </p:spPr>
      </p:pic>
      <p:sp>
        <p:nvSpPr>
          <p:cNvPr id="6" name="Text 3"/>
          <p:cNvSpPr/>
          <p:nvPr/>
        </p:nvSpPr>
        <p:spPr>
          <a:xfrm>
            <a:off x="640080" y="1234440"/>
            <a:ext cx="8686800" cy="365760"/>
          </a:xfrm>
          <a:prstGeom prst="rect">
            <a:avLst/>
          </a:prstGeom>
          <a:noFill/>
          <a:ln/>
        </p:spPr>
        <p:txBody>
          <a:bodyPr wrap="square" rtlCol="0" anchor="ctr"/>
          <a:lstStyle/>
          <a:p>
            <a:pPr marL="0" indent="0">
              <a:buNone/>
            </a:pPr>
            <a:r>
              <a:rPr lang="en-US" sz="1300" b="1" kern="0" spc="150" dirty="0">
                <a:solidFill>
                  <a:srgbClr val="00D9C0"/>
                </a:solidFill>
                <a:latin typeface="Calibri" pitchFamily="34" charset="0"/>
                <a:ea typeface="Calibri" pitchFamily="34" charset="-122"/>
                <a:cs typeface="Calibri" pitchFamily="34" charset="-120"/>
              </a:rPr>
              <a:t>MAINCRAFTS TECHNOLOGY  |  CYBERSECURITY ANALYST INTERNSHIP — TASK 1</a:t>
            </a:r>
            <a:endParaRPr lang="en-US" sz="1300" dirty="0"/>
          </a:p>
        </p:txBody>
      </p:sp>
      <p:sp>
        <p:nvSpPr>
          <p:cNvPr id="7" name="Text 4"/>
          <p:cNvSpPr/>
          <p:nvPr/>
        </p:nvSpPr>
        <p:spPr>
          <a:xfrm>
            <a:off x="621792" y="1737360"/>
            <a:ext cx="8778240" cy="1920240"/>
          </a:xfrm>
          <a:prstGeom prst="rect">
            <a:avLst/>
          </a:prstGeom>
          <a:noFill/>
          <a:ln/>
        </p:spPr>
        <p:txBody>
          <a:bodyPr wrap="square" rtlCol="0" anchor="ctr"/>
          <a:lstStyle/>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Cybersecurity Threat</a:t>
            </a:r>
            <a:endParaRPr lang="en-US" sz="4400" dirty="0"/>
          </a:p>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Intelligence Report</a:t>
            </a:r>
            <a:endParaRPr lang="en-US" sz="4400" dirty="0"/>
          </a:p>
        </p:txBody>
      </p:sp>
      <p:sp>
        <p:nvSpPr>
          <p:cNvPr id="8" name="Text 5"/>
          <p:cNvSpPr/>
          <p:nvPr/>
        </p:nvSpPr>
        <p:spPr>
          <a:xfrm>
            <a:off x="640080" y="3703320"/>
            <a:ext cx="8046720" cy="822960"/>
          </a:xfrm>
          <a:prstGeom prst="rect">
            <a:avLst/>
          </a:prstGeom>
          <a:noFill/>
          <a:ln/>
        </p:spPr>
        <p:txBody>
          <a:bodyPr wrap="square" rtlCol="0" anchor="ctr"/>
          <a:lstStyle/>
          <a:p>
            <a:pPr marL="0" indent="0">
              <a:lnSpc>
                <a:spcPts val="2200"/>
              </a:lnSpc>
              <a:buNone/>
            </a:pPr>
            <a:r>
              <a:rPr lang="en-US" sz="1600" dirty="0">
                <a:solidFill>
                  <a:srgbClr val="AFC2D9"/>
                </a:solidFill>
                <a:latin typeface="Calibri" pitchFamily="34" charset="0"/>
                <a:ea typeface="Calibri" pitchFamily="34" charset="-122"/>
                <a:cs typeface="Calibri" pitchFamily="34" charset="-120"/>
              </a:rPr>
              <a:t>Awareness &amp; Research Project — Modern Cyber Threats and Defense</a:t>
            </a:r>
            <a:endParaRPr lang="en-US" sz="1600" dirty="0"/>
          </a:p>
          <a:p>
            <a:pPr marL="0" indent="0">
              <a:lnSpc>
                <a:spcPts val="2200"/>
              </a:lnSpc>
              <a:buNone/>
            </a:pPr>
            <a:r>
              <a:rPr lang="en-US" sz="1600" dirty="0">
                <a:solidFill>
                  <a:srgbClr val="AFC2D9"/>
                </a:solidFill>
                <a:latin typeface="Calibri" pitchFamily="34" charset="0"/>
                <a:ea typeface="Calibri" pitchFamily="34" charset="-122"/>
                <a:cs typeface="Calibri" pitchFamily="34" charset="-120"/>
              </a:rPr>
              <a:t>Strategies Shaping the 2024–2025 Landscape</a:t>
            </a:r>
            <a:endParaRPr lang="en-US" sz="1600" dirty="0"/>
          </a:p>
        </p:txBody>
      </p:sp>
      <p:sp>
        <p:nvSpPr>
          <p:cNvPr id="9" name="Shape 6"/>
          <p:cNvSpPr/>
          <p:nvPr/>
        </p:nvSpPr>
        <p:spPr>
          <a:xfrm>
            <a:off x="640080" y="4709160"/>
            <a:ext cx="3291840" cy="0"/>
          </a:xfrm>
          <a:prstGeom prst="line">
            <a:avLst/>
          </a:prstGeom>
          <a:noFill/>
          <a:ln w="19050">
            <a:solidFill>
              <a:srgbClr val="1C3660"/>
            </a:solidFill>
            <a:prstDash val="solid"/>
          </a:ln>
        </p:spPr>
      </p:sp>
      <p:sp>
        <p:nvSpPr>
          <p:cNvPr id="10" name="Text 7"/>
          <p:cNvSpPr/>
          <p:nvPr/>
        </p:nvSpPr>
        <p:spPr>
          <a:xfrm>
            <a:off x="640080" y="4892040"/>
            <a:ext cx="5486400" cy="320040"/>
          </a:xfrm>
          <a:prstGeom prst="rect">
            <a:avLst/>
          </a:prstGeom>
          <a:noFill/>
          <a:ln/>
        </p:spPr>
        <p:txBody>
          <a:bodyPr wrap="square" rtlCol="0" anchor="ctr"/>
          <a:lstStyle/>
          <a:p>
            <a:pPr marL="0" indent="0">
              <a:buNone/>
            </a:pPr>
            <a:r>
              <a:rPr lang="en-US" sz="1300" b="1" dirty="0">
                <a:solidFill>
                  <a:srgbClr val="AFC2D9"/>
                </a:solidFill>
                <a:latin typeface="Calibri" pitchFamily="34" charset="0"/>
                <a:ea typeface="Calibri" pitchFamily="34" charset="-122"/>
                <a:cs typeface="Calibri" pitchFamily="34" charset="-120"/>
              </a:rPr>
              <a:t>Prepared by:  </a:t>
            </a:r>
            <a:r>
              <a:rPr lang="en-US" sz="1300" b="1" dirty="0" smtClean="0">
                <a:solidFill>
                  <a:srgbClr val="FFFFFF"/>
                </a:solidFill>
                <a:latin typeface="Calibri" pitchFamily="34" charset="0"/>
                <a:ea typeface="Calibri" pitchFamily="34" charset="-122"/>
                <a:cs typeface="Calibri" pitchFamily="34" charset="-120"/>
              </a:rPr>
              <a:t>NITHIN VIGNESH S</a:t>
            </a:r>
            <a:endParaRPr lang="en-US" sz="1300" dirty="0"/>
          </a:p>
        </p:txBody>
      </p:sp>
      <p:sp>
        <p:nvSpPr>
          <p:cNvPr id="11" name="Text 8"/>
          <p:cNvSpPr/>
          <p:nvPr/>
        </p:nvSpPr>
        <p:spPr>
          <a:xfrm>
            <a:off x="640080" y="5230368"/>
            <a:ext cx="5486400" cy="320040"/>
          </a:xfrm>
          <a:prstGeom prst="rect">
            <a:avLst/>
          </a:prstGeom>
          <a:noFill/>
          <a:ln/>
        </p:spPr>
        <p:txBody>
          <a:bodyPr wrap="square" rtlCol="0" anchor="ctr"/>
          <a:lstStyle/>
          <a:p>
            <a:pPr marL="0" indent="0">
              <a:buNone/>
            </a:pPr>
            <a:r>
              <a:rPr lang="en-US" sz="1300" b="1" dirty="0">
                <a:solidFill>
                  <a:srgbClr val="AFC2D9"/>
                </a:solidFill>
                <a:latin typeface="Calibri" pitchFamily="34" charset="0"/>
                <a:ea typeface="Calibri" pitchFamily="34" charset="-122"/>
                <a:cs typeface="Calibri" pitchFamily="34" charset="-120"/>
              </a:rPr>
              <a:t>Role:  </a:t>
            </a:r>
            <a:r>
              <a:rPr lang="en-US" sz="1300" dirty="0" smtClean="0">
                <a:solidFill>
                  <a:srgbClr val="FFFFFF"/>
                </a:solidFill>
                <a:latin typeface="Calibri" pitchFamily="34" charset="0"/>
                <a:ea typeface="Calibri" pitchFamily="34" charset="-122"/>
                <a:cs typeface="Calibri" pitchFamily="34" charset="-120"/>
              </a:rPr>
              <a:t>Cybersecurity </a:t>
            </a:r>
            <a:r>
              <a:rPr lang="en-US" sz="1300" dirty="0">
                <a:solidFill>
                  <a:srgbClr val="FFFFFF"/>
                </a:solidFill>
                <a:latin typeface="Calibri" pitchFamily="34" charset="0"/>
                <a:ea typeface="Calibri" pitchFamily="34" charset="-122"/>
                <a:cs typeface="Calibri" pitchFamily="34" charset="-120"/>
              </a:rPr>
              <a:t>Intern</a:t>
            </a:r>
            <a:endParaRPr lang="en-US" sz="1300" dirty="0"/>
          </a:p>
        </p:txBody>
      </p:sp>
      <p:sp>
        <p:nvSpPr>
          <p:cNvPr id="12" name="Text 9"/>
          <p:cNvSpPr/>
          <p:nvPr/>
        </p:nvSpPr>
        <p:spPr>
          <a:xfrm>
            <a:off x="640080" y="5568696"/>
            <a:ext cx="5486400" cy="320040"/>
          </a:xfrm>
          <a:prstGeom prst="rect">
            <a:avLst/>
          </a:prstGeom>
          <a:noFill/>
          <a:ln/>
        </p:spPr>
        <p:txBody>
          <a:bodyPr wrap="square" rtlCol="0" anchor="ctr"/>
          <a:lstStyle/>
          <a:p>
            <a:pPr marL="0" indent="0">
              <a:buNone/>
            </a:pPr>
            <a:r>
              <a:rPr lang="en-US" sz="1300" b="1" dirty="0">
                <a:solidFill>
                  <a:srgbClr val="AFC2D9"/>
                </a:solidFill>
                <a:latin typeface="Calibri" pitchFamily="34" charset="0"/>
                <a:ea typeface="Calibri" pitchFamily="34" charset="-122"/>
                <a:cs typeface="Calibri" pitchFamily="34" charset="-120"/>
              </a:rPr>
              <a:t>Date:  </a:t>
            </a:r>
            <a:r>
              <a:rPr lang="en-US" sz="1300" dirty="0" smtClean="0">
                <a:solidFill>
                  <a:srgbClr val="FFFFFF"/>
                </a:solidFill>
                <a:latin typeface="Calibri" pitchFamily="34" charset="0"/>
                <a:ea typeface="Calibri" pitchFamily="34" charset="-122"/>
                <a:cs typeface="Calibri" pitchFamily="34" charset="-120"/>
              </a:rPr>
              <a:t>08-08-2026</a:t>
            </a:r>
            <a:endParaRPr lang="en-US" sz="1300" dirty="0"/>
          </a:p>
        </p:txBody>
      </p:sp>
      <p:sp>
        <p:nvSpPr>
          <p:cNvPr id="13" name="Text 10"/>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AFC2D9"/>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47C71"/>
                </a:solidFill>
                <a:latin typeface="Calibri" pitchFamily="34" charset="0"/>
                <a:ea typeface="Calibri" pitchFamily="34" charset="-122"/>
                <a:cs typeface="Calibri" pitchFamily="34" charset="-120"/>
              </a:rPr>
              <a:t>TABLE OF CONTENTS</a:t>
            </a:r>
            <a:endParaRPr lang="en-US" sz="1200" dirty="0"/>
          </a:p>
        </p:txBody>
      </p:sp>
      <p:sp>
        <p:nvSpPr>
          <p:cNvPr id="3" name="Text 1"/>
          <p:cNvSpPr/>
          <p:nvPr/>
        </p:nvSpPr>
        <p:spPr>
          <a:xfrm>
            <a:off x="548640" y="685800"/>
            <a:ext cx="8229600" cy="548640"/>
          </a:xfrm>
          <a:prstGeom prst="rect">
            <a:avLst/>
          </a:prstGeom>
          <a:noFill/>
          <a:ln/>
        </p:spPr>
        <p:txBody>
          <a:bodyPr wrap="square" rtlCol="0" anchor="ctr"/>
          <a:lstStyle/>
          <a:p>
            <a:pPr marL="0" indent="0">
              <a:buNone/>
            </a:pPr>
            <a:r>
              <a:rPr lang="en-US" sz="3200" b="1" dirty="0">
                <a:solidFill>
                  <a:srgbClr val="16233A"/>
                </a:solidFill>
                <a:latin typeface="Cambria" pitchFamily="34" charset="0"/>
                <a:ea typeface="Cambria" pitchFamily="34" charset="-122"/>
                <a:cs typeface="Cambria" pitchFamily="34" charset="-120"/>
              </a:rPr>
              <a:t>What This Report Covers</a:t>
            </a:r>
            <a:endParaRPr lang="en-US" sz="3200" dirty="0"/>
          </a:p>
        </p:txBody>
      </p:sp>
      <p:sp>
        <p:nvSpPr>
          <p:cNvPr id="4" name="Shape 2"/>
          <p:cNvSpPr/>
          <p:nvPr/>
        </p:nvSpPr>
        <p:spPr>
          <a:xfrm>
            <a:off x="548640" y="1600200"/>
            <a:ext cx="5394960" cy="1234440"/>
          </a:xfrm>
          <a:prstGeom prst="roundRect">
            <a:avLst>
              <a:gd name="adj" fmla="val 5926"/>
            </a:avLst>
          </a:prstGeom>
          <a:solidFill>
            <a:srgbClr val="F3F6FA"/>
          </a:solidFill>
          <a:ln/>
        </p:spPr>
      </p:sp>
      <p:sp>
        <p:nvSpPr>
          <p:cNvPr id="5" name="Text 3"/>
          <p:cNvSpPr/>
          <p:nvPr/>
        </p:nvSpPr>
        <p:spPr>
          <a:xfrm>
            <a:off x="777240" y="1764792"/>
            <a:ext cx="1005840" cy="914400"/>
          </a:xfrm>
          <a:prstGeom prst="rect">
            <a:avLst/>
          </a:prstGeom>
          <a:noFill/>
          <a:ln/>
        </p:spPr>
        <p:txBody>
          <a:bodyPr wrap="square" rtlCol="0" anchor="ctr"/>
          <a:lstStyle/>
          <a:p>
            <a:pPr marL="0" indent="0">
              <a:buNone/>
            </a:pPr>
            <a:r>
              <a:rPr lang="en-US" sz="3200" b="1" dirty="0">
                <a:solidFill>
                  <a:srgbClr val="C7D6E8"/>
                </a:solidFill>
                <a:latin typeface="Cambria" pitchFamily="34" charset="0"/>
                <a:ea typeface="Cambria" pitchFamily="34" charset="-122"/>
                <a:cs typeface="Cambria" pitchFamily="34" charset="-120"/>
              </a:rPr>
              <a:t>01</a:t>
            </a:r>
            <a:endParaRPr lang="en-US" sz="3200" dirty="0"/>
          </a:p>
        </p:txBody>
      </p:sp>
      <p:sp>
        <p:nvSpPr>
          <p:cNvPr id="6" name="Text 4"/>
          <p:cNvSpPr/>
          <p:nvPr/>
        </p:nvSpPr>
        <p:spPr>
          <a:xfrm>
            <a:off x="1691640" y="1783080"/>
            <a:ext cx="4023360" cy="457200"/>
          </a:xfrm>
          <a:prstGeom prst="rect">
            <a:avLst/>
          </a:prstGeom>
          <a:noFill/>
          <a:ln/>
        </p:spPr>
        <p:txBody>
          <a:bodyPr wrap="square" rtlCol="0" anchor="ctr"/>
          <a:lstStyle/>
          <a:p>
            <a:pPr marL="0" indent="0">
              <a:buNone/>
            </a:pPr>
            <a:r>
              <a:rPr lang="en-US" sz="1500" b="1" dirty="0">
                <a:solidFill>
                  <a:srgbClr val="16233A"/>
                </a:solidFill>
                <a:latin typeface="Calibri" pitchFamily="34" charset="0"/>
                <a:ea typeface="Calibri" pitchFamily="34" charset="-122"/>
                <a:cs typeface="Calibri" pitchFamily="34" charset="-120"/>
              </a:rPr>
              <a:t>Introduction to Cybersecurity</a:t>
            </a:r>
            <a:endParaRPr lang="en-US" sz="1500" dirty="0"/>
          </a:p>
        </p:txBody>
      </p:sp>
      <p:sp>
        <p:nvSpPr>
          <p:cNvPr id="7" name="Text 5"/>
          <p:cNvSpPr/>
          <p:nvPr/>
        </p:nvSpPr>
        <p:spPr>
          <a:xfrm>
            <a:off x="1691640" y="2203704"/>
            <a:ext cx="4023360" cy="548640"/>
          </a:xfrm>
          <a:prstGeom prst="rect">
            <a:avLst/>
          </a:prstGeom>
          <a:noFill/>
          <a:ln/>
        </p:spPr>
        <p:txBody>
          <a:bodyPr wrap="square" rtlCol="0" anchor="ctr"/>
          <a:lstStyle/>
          <a:p>
            <a:pPr marL="0" indent="0">
              <a:lnSpc>
                <a:spcPts val="1400"/>
              </a:lnSpc>
              <a:buNone/>
            </a:pPr>
            <a:r>
              <a:rPr lang="en-US" sz="1150" dirty="0">
                <a:solidFill>
                  <a:srgbClr val="5B6B82"/>
                </a:solidFill>
                <a:latin typeface="Calibri" pitchFamily="34" charset="0"/>
                <a:ea typeface="Calibri" pitchFamily="34" charset="-122"/>
                <a:cs typeface="Calibri" pitchFamily="34" charset="-120"/>
              </a:rPr>
              <a:t>Why it matters for individuals and businesses today</a:t>
            </a:r>
            <a:endParaRPr lang="en-US" sz="1150" dirty="0"/>
          </a:p>
        </p:txBody>
      </p:sp>
      <p:sp>
        <p:nvSpPr>
          <p:cNvPr id="8" name="Shape 6"/>
          <p:cNvSpPr/>
          <p:nvPr/>
        </p:nvSpPr>
        <p:spPr>
          <a:xfrm>
            <a:off x="6400800" y="1600200"/>
            <a:ext cx="5394960" cy="1234440"/>
          </a:xfrm>
          <a:prstGeom prst="roundRect">
            <a:avLst>
              <a:gd name="adj" fmla="val 5926"/>
            </a:avLst>
          </a:prstGeom>
          <a:solidFill>
            <a:srgbClr val="F3F6FA"/>
          </a:solidFill>
          <a:ln/>
        </p:spPr>
      </p:sp>
      <p:sp>
        <p:nvSpPr>
          <p:cNvPr id="9" name="Text 7"/>
          <p:cNvSpPr/>
          <p:nvPr/>
        </p:nvSpPr>
        <p:spPr>
          <a:xfrm>
            <a:off x="6629400" y="1764792"/>
            <a:ext cx="1005840" cy="914400"/>
          </a:xfrm>
          <a:prstGeom prst="rect">
            <a:avLst/>
          </a:prstGeom>
          <a:noFill/>
          <a:ln/>
        </p:spPr>
        <p:txBody>
          <a:bodyPr wrap="square" rtlCol="0" anchor="ctr"/>
          <a:lstStyle/>
          <a:p>
            <a:pPr marL="0" indent="0">
              <a:buNone/>
            </a:pPr>
            <a:r>
              <a:rPr lang="en-US" sz="3200" b="1" dirty="0">
                <a:solidFill>
                  <a:srgbClr val="C7D6E8"/>
                </a:solidFill>
                <a:latin typeface="Cambria" pitchFamily="34" charset="0"/>
                <a:ea typeface="Cambria" pitchFamily="34" charset="-122"/>
                <a:cs typeface="Cambria" pitchFamily="34" charset="-120"/>
              </a:rPr>
              <a:t>02</a:t>
            </a:r>
            <a:endParaRPr lang="en-US" sz="3200" dirty="0"/>
          </a:p>
        </p:txBody>
      </p:sp>
      <p:sp>
        <p:nvSpPr>
          <p:cNvPr id="10" name="Text 8"/>
          <p:cNvSpPr/>
          <p:nvPr/>
        </p:nvSpPr>
        <p:spPr>
          <a:xfrm>
            <a:off x="7543800" y="1783080"/>
            <a:ext cx="4023360" cy="457200"/>
          </a:xfrm>
          <a:prstGeom prst="rect">
            <a:avLst/>
          </a:prstGeom>
          <a:noFill/>
          <a:ln/>
        </p:spPr>
        <p:txBody>
          <a:bodyPr wrap="square" rtlCol="0" anchor="ctr"/>
          <a:lstStyle/>
          <a:p>
            <a:pPr marL="0" indent="0">
              <a:buNone/>
            </a:pPr>
            <a:r>
              <a:rPr lang="en-US" sz="1500" b="1" dirty="0">
                <a:solidFill>
                  <a:srgbClr val="16233A"/>
                </a:solidFill>
                <a:latin typeface="Calibri" pitchFamily="34" charset="0"/>
                <a:ea typeface="Calibri" pitchFamily="34" charset="-122"/>
                <a:cs typeface="Calibri" pitchFamily="34" charset="-120"/>
              </a:rPr>
              <a:t>The Current Threat Landscape</a:t>
            </a:r>
            <a:endParaRPr lang="en-US" sz="1500" dirty="0"/>
          </a:p>
        </p:txBody>
      </p:sp>
      <p:sp>
        <p:nvSpPr>
          <p:cNvPr id="11" name="Text 9"/>
          <p:cNvSpPr/>
          <p:nvPr/>
        </p:nvSpPr>
        <p:spPr>
          <a:xfrm>
            <a:off x="7543800" y="2203704"/>
            <a:ext cx="4023360" cy="548640"/>
          </a:xfrm>
          <a:prstGeom prst="rect">
            <a:avLst/>
          </a:prstGeom>
          <a:noFill/>
          <a:ln/>
        </p:spPr>
        <p:txBody>
          <a:bodyPr wrap="square" rtlCol="0" anchor="ctr"/>
          <a:lstStyle/>
          <a:p>
            <a:pPr marL="0" indent="0">
              <a:lnSpc>
                <a:spcPts val="1400"/>
              </a:lnSpc>
              <a:buNone/>
            </a:pPr>
            <a:r>
              <a:rPr lang="en-US" sz="1150" dirty="0">
                <a:solidFill>
                  <a:srgbClr val="5B6B82"/>
                </a:solidFill>
                <a:latin typeface="Calibri" pitchFamily="34" charset="0"/>
                <a:ea typeface="Calibri" pitchFamily="34" charset="-122"/>
                <a:cs typeface="Calibri" pitchFamily="34" charset="-120"/>
              </a:rPr>
              <a:t>Digital dependency, rising cybercrime, and AI-driven risk</a:t>
            </a:r>
            <a:endParaRPr lang="en-US" sz="1150" dirty="0"/>
          </a:p>
        </p:txBody>
      </p:sp>
      <p:sp>
        <p:nvSpPr>
          <p:cNvPr id="12" name="Shape 10"/>
          <p:cNvSpPr/>
          <p:nvPr/>
        </p:nvSpPr>
        <p:spPr>
          <a:xfrm>
            <a:off x="548640" y="3063240"/>
            <a:ext cx="5394960" cy="1234440"/>
          </a:xfrm>
          <a:prstGeom prst="roundRect">
            <a:avLst>
              <a:gd name="adj" fmla="val 5926"/>
            </a:avLst>
          </a:prstGeom>
          <a:solidFill>
            <a:srgbClr val="F3F6FA"/>
          </a:solidFill>
          <a:ln/>
        </p:spPr>
      </p:sp>
      <p:sp>
        <p:nvSpPr>
          <p:cNvPr id="13" name="Text 11"/>
          <p:cNvSpPr/>
          <p:nvPr/>
        </p:nvSpPr>
        <p:spPr>
          <a:xfrm>
            <a:off x="777240" y="3227832"/>
            <a:ext cx="1005840" cy="914400"/>
          </a:xfrm>
          <a:prstGeom prst="rect">
            <a:avLst/>
          </a:prstGeom>
          <a:noFill/>
          <a:ln/>
        </p:spPr>
        <p:txBody>
          <a:bodyPr wrap="square" rtlCol="0" anchor="ctr"/>
          <a:lstStyle/>
          <a:p>
            <a:pPr marL="0" indent="0">
              <a:buNone/>
            </a:pPr>
            <a:r>
              <a:rPr lang="en-US" sz="3200" b="1" dirty="0">
                <a:solidFill>
                  <a:srgbClr val="C7D6E8"/>
                </a:solidFill>
                <a:latin typeface="Cambria" pitchFamily="34" charset="0"/>
                <a:ea typeface="Cambria" pitchFamily="34" charset="-122"/>
                <a:cs typeface="Cambria" pitchFamily="34" charset="-120"/>
              </a:rPr>
              <a:t>03</a:t>
            </a:r>
            <a:endParaRPr lang="en-US" sz="3200" dirty="0"/>
          </a:p>
        </p:txBody>
      </p:sp>
      <p:sp>
        <p:nvSpPr>
          <p:cNvPr id="14" name="Text 12"/>
          <p:cNvSpPr/>
          <p:nvPr/>
        </p:nvSpPr>
        <p:spPr>
          <a:xfrm>
            <a:off x="1691640" y="3246120"/>
            <a:ext cx="4023360" cy="457200"/>
          </a:xfrm>
          <a:prstGeom prst="rect">
            <a:avLst/>
          </a:prstGeom>
          <a:noFill/>
          <a:ln/>
        </p:spPr>
        <p:txBody>
          <a:bodyPr wrap="square" rtlCol="0" anchor="ctr"/>
          <a:lstStyle/>
          <a:p>
            <a:pPr marL="0" indent="0">
              <a:buNone/>
            </a:pPr>
            <a:r>
              <a:rPr lang="en-US" sz="1500" b="1" dirty="0">
                <a:solidFill>
                  <a:srgbClr val="16233A"/>
                </a:solidFill>
                <a:latin typeface="Calibri" pitchFamily="34" charset="0"/>
                <a:ea typeface="Calibri" pitchFamily="34" charset="-122"/>
                <a:cs typeface="Calibri" pitchFamily="34" charset="-120"/>
              </a:rPr>
              <a:t>Five Major Modern Cyber Threats</a:t>
            </a:r>
            <a:endParaRPr lang="en-US" sz="1500" dirty="0"/>
          </a:p>
        </p:txBody>
      </p:sp>
      <p:sp>
        <p:nvSpPr>
          <p:cNvPr id="15" name="Text 13"/>
          <p:cNvSpPr/>
          <p:nvPr/>
        </p:nvSpPr>
        <p:spPr>
          <a:xfrm>
            <a:off x="1691640" y="3666744"/>
            <a:ext cx="4023360" cy="548640"/>
          </a:xfrm>
          <a:prstGeom prst="rect">
            <a:avLst/>
          </a:prstGeom>
          <a:noFill/>
          <a:ln/>
        </p:spPr>
        <p:txBody>
          <a:bodyPr wrap="square" rtlCol="0" anchor="ctr"/>
          <a:lstStyle/>
          <a:p>
            <a:pPr marL="0" indent="0">
              <a:lnSpc>
                <a:spcPts val="1400"/>
              </a:lnSpc>
              <a:buNone/>
            </a:pPr>
            <a:r>
              <a:rPr lang="en-US" sz="1150" dirty="0">
                <a:solidFill>
                  <a:srgbClr val="5B6B82"/>
                </a:solidFill>
                <a:latin typeface="Calibri" pitchFamily="34" charset="0"/>
                <a:ea typeface="Calibri" pitchFamily="34" charset="-122"/>
                <a:cs typeface="Calibri" pitchFamily="34" charset="-120"/>
              </a:rPr>
              <a:t>Phishing, ransomware, cloud, IoT, and zero-day risks</a:t>
            </a:r>
            <a:endParaRPr lang="en-US" sz="1150" dirty="0"/>
          </a:p>
        </p:txBody>
      </p:sp>
      <p:sp>
        <p:nvSpPr>
          <p:cNvPr id="16" name="Shape 14"/>
          <p:cNvSpPr/>
          <p:nvPr/>
        </p:nvSpPr>
        <p:spPr>
          <a:xfrm>
            <a:off x="6400800" y="3063240"/>
            <a:ext cx="5394960" cy="1234440"/>
          </a:xfrm>
          <a:prstGeom prst="roundRect">
            <a:avLst>
              <a:gd name="adj" fmla="val 5926"/>
            </a:avLst>
          </a:prstGeom>
          <a:solidFill>
            <a:srgbClr val="F3F6FA"/>
          </a:solidFill>
          <a:ln/>
        </p:spPr>
      </p:sp>
      <p:sp>
        <p:nvSpPr>
          <p:cNvPr id="17" name="Text 15"/>
          <p:cNvSpPr/>
          <p:nvPr/>
        </p:nvSpPr>
        <p:spPr>
          <a:xfrm>
            <a:off x="6629400" y="3227832"/>
            <a:ext cx="1005840" cy="914400"/>
          </a:xfrm>
          <a:prstGeom prst="rect">
            <a:avLst/>
          </a:prstGeom>
          <a:noFill/>
          <a:ln/>
        </p:spPr>
        <p:txBody>
          <a:bodyPr wrap="square" rtlCol="0" anchor="ctr"/>
          <a:lstStyle/>
          <a:p>
            <a:pPr marL="0" indent="0">
              <a:buNone/>
            </a:pPr>
            <a:r>
              <a:rPr lang="en-US" sz="3200" b="1" dirty="0">
                <a:solidFill>
                  <a:srgbClr val="C7D6E8"/>
                </a:solidFill>
                <a:latin typeface="Cambria" pitchFamily="34" charset="0"/>
                <a:ea typeface="Cambria" pitchFamily="34" charset="-122"/>
                <a:cs typeface="Cambria" pitchFamily="34" charset="-120"/>
              </a:rPr>
              <a:t>04</a:t>
            </a:r>
            <a:endParaRPr lang="en-US" sz="3200" dirty="0"/>
          </a:p>
        </p:txBody>
      </p:sp>
      <p:sp>
        <p:nvSpPr>
          <p:cNvPr id="18" name="Text 16"/>
          <p:cNvSpPr/>
          <p:nvPr/>
        </p:nvSpPr>
        <p:spPr>
          <a:xfrm>
            <a:off x="7543800" y="3246120"/>
            <a:ext cx="4023360" cy="457200"/>
          </a:xfrm>
          <a:prstGeom prst="rect">
            <a:avLst/>
          </a:prstGeom>
          <a:noFill/>
          <a:ln/>
        </p:spPr>
        <p:txBody>
          <a:bodyPr wrap="square" rtlCol="0" anchor="ctr"/>
          <a:lstStyle/>
          <a:p>
            <a:pPr marL="0" indent="0">
              <a:buNone/>
            </a:pPr>
            <a:r>
              <a:rPr lang="en-US" sz="1500" b="1" dirty="0">
                <a:solidFill>
                  <a:srgbClr val="16233A"/>
                </a:solidFill>
                <a:latin typeface="Calibri" pitchFamily="34" charset="0"/>
                <a:ea typeface="Calibri" pitchFamily="34" charset="-122"/>
                <a:cs typeface="Calibri" pitchFamily="34" charset="-120"/>
              </a:rPr>
              <a:t>Impact Analysis &amp; Real-World Cases</a:t>
            </a:r>
            <a:endParaRPr lang="en-US" sz="1500" dirty="0"/>
          </a:p>
        </p:txBody>
      </p:sp>
      <p:sp>
        <p:nvSpPr>
          <p:cNvPr id="19" name="Text 17"/>
          <p:cNvSpPr/>
          <p:nvPr/>
        </p:nvSpPr>
        <p:spPr>
          <a:xfrm>
            <a:off x="7543800" y="3666744"/>
            <a:ext cx="4023360" cy="548640"/>
          </a:xfrm>
          <a:prstGeom prst="rect">
            <a:avLst/>
          </a:prstGeom>
          <a:noFill/>
          <a:ln/>
        </p:spPr>
        <p:txBody>
          <a:bodyPr wrap="square" rtlCol="0" anchor="ctr"/>
          <a:lstStyle/>
          <a:p>
            <a:pPr marL="0" indent="0">
              <a:lnSpc>
                <a:spcPts val="1400"/>
              </a:lnSpc>
              <a:buNone/>
            </a:pPr>
            <a:r>
              <a:rPr lang="en-US" sz="1150" dirty="0">
                <a:solidFill>
                  <a:srgbClr val="5B6B82"/>
                </a:solidFill>
                <a:latin typeface="Calibri" pitchFamily="34" charset="0"/>
                <a:ea typeface="Calibri" pitchFamily="34" charset="-122"/>
                <a:cs typeface="Calibri" pitchFamily="34" charset="-120"/>
              </a:rPr>
              <a:t>How each threat has hit individuals and organizations</a:t>
            </a:r>
            <a:endParaRPr lang="en-US" sz="1150" dirty="0"/>
          </a:p>
        </p:txBody>
      </p:sp>
      <p:sp>
        <p:nvSpPr>
          <p:cNvPr id="20" name="Shape 18"/>
          <p:cNvSpPr/>
          <p:nvPr/>
        </p:nvSpPr>
        <p:spPr>
          <a:xfrm>
            <a:off x="548640" y="4526280"/>
            <a:ext cx="5394960" cy="1234440"/>
          </a:xfrm>
          <a:prstGeom prst="roundRect">
            <a:avLst>
              <a:gd name="adj" fmla="val 5926"/>
            </a:avLst>
          </a:prstGeom>
          <a:solidFill>
            <a:srgbClr val="F3F6FA"/>
          </a:solidFill>
          <a:ln/>
        </p:spPr>
      </p:sp>
      <p:sp>
        <p:nvSpPr>
          <p:cNvPr id="21" name="Text 19"/>
          <p:cNvSpPr/>
          <p:nvPr/>
        </p:nvSpPr>
        <p:spPr>
          <a:xfrm>
            <a:off x="777240" y="4690872"/>
            <a:ext cx="1005840" cy="914400"/>
          </a:xfrm>
          <a:prstGeom prst="rect">
            <a:avLst/>
          </a:prstGeom>
          <a:noFill/>
          <a:ln/>
        </p:spPr>
        <p:txBody>
          <a:bodyPr wrap="square" rtlCol="0" anchor="ctr"/>
          <a:lstStyle/>
          <a:p>
            <a:pPr marL="0" indent="0">
              <a:buNone/>
            </a:pPr>
            <a:r>
              <a:rPr lang="en-US" sz="3200" b="1" dirty="0">
                <a:solidFill>
                  <a:srgbClr val="C7D6E8"/>
                </a:solidFill>
                <a:latin typeface="Cambria" pitchFamily="34" charset="0"/>
                <a:ea typeface="Cambria" pitchFamily="34" charset="-122"/>
                <a:cs typeface="Cambria" pitchFamily="34" charset="-120"/>
              </a:rPr>
              <a:t>05</a:t>
            </a:r>
            <a:endParaRPr lang="en-US" sz="3200" dirty="0"/>
          </a:p>
        </p:txBody>
      </p:sp>
      <p:sp>
        <p:nvSpPr>
          <p:cNvPr id="22" name="Text 20"/>
          <p:cNvSpPr/>
          <p:nvPr/>
        </p:nvSpPr>
        <p:spPr>
          <a:xfrm>
            <a:off x="1691640" y="4709160"/>
            <a:ext cx="4023360" cy="457200"/>
          </a:xfrm>
          <a:prstGeom prst="rect">
            <a:avLst/>
          </a:prstGeom>
          <a:noFill/>
          <a:ln/>
        </p:spPr>
        <p:txBody>
          <a:bodyPr wrap="square" rtlCol="0" anchor="ctr"/>
          <a:lstStyle/>
          <a:p>
            <a:pPr marL="0" indent="0">
              <a:buNone/>
            </a:pPr>
            <a:r>
              <a:rPr lang="en-US" sz="1500" b="1" dirty="0">
                <a:solidFill>
                  <a:srgbClr val="16233A"/>
                </a:solidFill>
                <a:latin typeface="Calibri" pitchFamily="34" charset="0"/>
                <a:ea typeface="Calibri" pitchFamily="34" charset="-122"/>
                <a:cs typeface="Calibri" pitchFamily="34" charset="-120"/>
              </a:rPr>
              <a:t>Preventive Measures</a:t>
            </a:r>
            <a:endParaRPr lang="en-US" sz="1500" dirty="0"/>
          </a:p>
        </p:txBody>
      </p:sp>
      <p:sp>
        <p:nvSpPr>
          <p:cNvPr id="23" name="Text 21"/>
          <p:cNvSpPr/>
          <p:nvPr/>
        </p:nvSpPr>
        <p:spPr>
          <a:xfrm>
            <a:off x="1691640" y="5129784"/>
            <a:ext cx="4023360" cy="548640"/>
          </a:xfrm>
          <a:prstGeom prst="rect">
            <a:avLst/>
          </a:prstGeom>
          <a:noFill/>
          <a:ln/>
        </p:spPr>
        <p:txBody>
          <a:bodyPr wrap="square" rtlCol="0" anchor="ctr"/>
          <a:lstStyle/>
          <a:p>
            <a:pPr marL="0" indent="0">
              <a:lnSpc>
                <a:spcPts val="1400"/>
              </a:lnSpc>
              <a:buNone/>
            </a:pPr>
            <a:r>
              <a:rPr lang="en-US" sz="1150" dirty="0">
                <a:solidFill>
                  <a:srgbClr val="5B6B82"/>
                </a:solidFill>
                <a:latin typeface="Calibri" pitchFamily="34" charset="0"/>
                <a:ea typeface="Calibri" pitchFamily="34" charset="-122"/>
                <a:cs typeface="Calibri" pitchFamily="34" charset="-120"/>
              </a:rPr>
              <a:t>Practical defenses mapped to every threat</a:t>
            </a:r>
            <a:endParaRPr lang="en-US" sz="1150" dirty="0"/>
          </a:p>
        </p:txBody>
      </p:sp>
      <p:sp>
        <p:nvSpPr>
          <p:cNvPr id="24" name="Shape 22"/>
          <p:cNvSpPr/>
          <p:nvPr/>
        </p:nvSpPr>
        <p:spPr>
          <a:xfrm>
            <a:off x="6400800" y="4526280"/>
            <a:ext cx="5394960" cy="1234440"/>
          </a:xfrm>
          <a:prstGeom prst="roundRect">
            <a:avLst>
              <a:gd name="adj" fmla="val 5926"/>
            </a:avLst>
          </a:prstGeom>
          <a:solidFill>
            <a:srgbClr val="F3F6FA"/>
          </a:solidFill>
          <a:ln/>
        </p:spPr>
      </p:sp>
      <p:sp>
        <p:nvSpPr>
          <p:cNvPr id="25" name="Text 23"/>
          <p:cNvSpPr/>
          <p:nvPr/>
        </p:nvSpPr>
        <p:spPr>
          <a:xfrm>
            <a:off x="6629400" y="4690872"/>
            <a:ext cx="1005840" cy="914400"/>
          </a:xfrm>
          <a:prstGeom prst="rect">
            <a:avLst/>
          </a:prstGeom>
          <a:noFill/>
          <a:ln/>
        </p:spPr>
        <p:txBody>
          <a:bodyPr wrap="square" rtlCol="0" anchor="ctr"/>
          <a:lstStyle/>
          <a:p>
            <a:pPr marL="0" indent="0">
              <a:buNone/>
            </a:pPr>
            <a:r>
              <a:rPr lang="en-US" sz="3200" b="1" dirty="0">
                <a:solidFill>
                  <a:srgbClr val="C7D6E8"/>
                </a:solidFill>
                <a:latin typeface="Cambria" pitchFamily="34" charset="0"/>
                <a:ea typeface="Cambria" pitchFamily="34" charset="-122"/>
                <a:cs typeface="Cambria" pitchFamily="34" charset="-120"/>
              </a:rPr>
              <a:t>06</a:t>
            </a:r>
            <a:endParaRPr lang="en-US" sz="3200" dirty="0"/>
          </a:p>
        </p:txBody>
      </p:sp>
      <p:sp>
        <p:nvSpPr>
          <p:cNvPr id="26" name="Text 24"/>
          <p:cNvSpPr/>
          <p:nvPr/>
        </p:nvSpPr>
        <p:spPr>
          <a:xfrm>
            <a:off x="7543800" y="4709160"/>
            <a:ext cx="4023360" cy="457200"/>
          </a:xfrm>
          <a:prstGeom prst="rect">
            <a:avLst/>
          </a:prstGeom>
          <a:noFill/>
          <a:ln/>
        </p:spPr>
        <p:txBody>
          <a:bodyPr wrap="square" rtlCol="0" anchor="ctr"/>
          <a:lstStyle/>
          <a:p>
            <a:pPr marL="0" indent="0">
              <a:buNone/>
            </a:pPr>
            <a:r>
              <a:rPr lang="en-US" sz="1500" b="1" dirty="0">
                <a:solidFill>
                  <a:srgbClr val="16233A"/>
                </a:solidFill>
                <a:latin typeface="Calibri" pitchFamily="34" charset="0"/>
                <a:ea typeface="Calibri" pitchFamily="34" charset="-122"/>
                <a:cs typeface="Calibri" pitchFamily="34" charset="-120"/>
              </a:rPr>
              <a:t>Conclusion &amp; Future Scope</a:t>
            </a:r>
            <a:endParaRPr lang="en-US" sz="1500" dirty="0"/>
          </a:p>
        </p:txBody>
      </p:sp>
      <p:sp>
        <p:nvSpPr>
          <p:cNvPr id="27" name="Text 25"/>
          <p:cNvSpPr/>
          <p:nvPr/>
        </p:nvSpPr>
        <p:spPr>
          <a:xfrm>
            <a:off x="7543800" y="5129784"/>
            <a:ext cx="4023360" cy="548640"/>
          </a:xfrm>
          <a:prstGeom prst="rect">
            <a:avLst/>
          </a:prstGeom>
          <a:noFill/>
          <a:ln/>
        </p:spPr>
        <p:txBody>
          <a:bodyPr wrap="square" rtlCol="0" anchor="ctr"/>
          <a:lstStyle/>
          <a:p>
            <a:pPr marL="0" indent="0">
              <a:lnSpc>
                <a:spcPts val="1400"/>
              </a:lnSpc>
              <a:buNone/>
            </a:pPr>
            <a:r>
              <a:rPr lang="en-US" sz="1150" dirty="0">
                <a:solidFill>
                  <a:srgbClr val="5B6B82"/>
                </a:solidFill>
                <a:latin typeface="Calibri" pitchFamily="34" charset="0"/>
                <a:ea typeface="Calibri" pitchFamily="34" charset="-122"/>
                <a:cs typeface="Calibri" pitchFamily="34" charset="-120"/>
              </a:rPr>
              <a:t>Why proactive, continuous security is non-negotiable</a:t>
            </a:r>
            <a:endParaRPr lang="en-US" sz="1150" dirty="0"/>
          </a:p>
        </p:txBody>
      </p:sp>
      <p:sp>
        <p:nvSpPr>
          <p:cNvPr id="28" name="Text 26"/>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47C71"/>
                </a:solidFill>
                <a:latin typeface="Calibri" pitchFamily="34" charset="0"/>
                <a:ea typeface="Calibri" pitchFamily="34" charset="-122"/>
                <a:cs typeface="Calibri" pitchFamily="34" charset="-120"/>
              </a:rPr>
              <a:t>01 · INTRODUCTION</a:t>
            </a:r>
            <a:endParaRPr lang="en-US" sz="1200" dirty="0"/>
          </a:p>
        </p:txBody>
      </p:sp>
      <p:sp>
        <p:nvSpPr>
          <p:cNvPr id="3" name="Text 1"/>
          <p:cNvSpPr/>
          <p:nvPr/>
        </p:nvSpPr>
        <p:spPr>
          <a:xfrm>
            <a:off x="548640" y="685800"/>
            <a:ext cx="10515600" cy="548640"/>
          </a:xfrm>
          <a:prstGeom prst="rect">
            <a:avLst/>
          </a:prstGeom>
          <a:noFill/>
          <a:ln/>
        </p:spPr>
        <p:txBody>
          <a:bodyPr wrap="square"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What Is Cybersecurity, and Why Does It Matter?</a:t>
            </a:r>
            <a:endParaRPr lang="en-US" sz="3000" dirty="0"/>
          </a:p>
        </p:txBody>
      </p:sp>
      <p:sp>
        <p:nvSpPr>
          <p:cNvPr id="4" name="Shape 2"/>
          <p:cNvSpPr/>
          <p:nvPr/>
        </p:nvSpPr>
        <p:spPr>
          <a:xfrm>
            <a:off x="548640" y="1508760"/>
            <a:ext cx="5349240" cy="4434840"/>
          </a:xfrm>
          <a:prstGeom prst="roundRect">
            <a:avLst>
              <a:gd name="adj" fmla="val 1649"/>
            </a:avLst>
          </a:prstGeom>
          <a:solidFill>
            <a:srgbClr val="0B1F3A"/>
          </a:solidFill>
          <a:ln/>
        </p:spPr>
      </p:sp>
      <p:sp>
        <p:nvSpPr>
          <p:cNvPr id="5" name="Shape 3"/>
          <p:cNvSpPr/>
          <p:nvPr/>
        </p:nvSpPr>
        <p:spPr>
          <a:xfrm>
            <a:off x="868680" y="1828800"/>
            <a:ext cx="548640" cy="548640"/>
          </a:xfrm>
          <a:prstGeom prst="ellipse">
            <a:avLst/>
          </a:prstGeom>
          <a:solidFill>
            <a:srgbClr val="00D9C0"/>
          </a:solidFill>
          <a:ln/>
        </p:spPr>
      </p:sp>
      <p:pic>
        <p:nvPicPr>
          <p:cNvPr id="6" name="Image 0" descr="/home/claude/deck/icon_shield.png"/>
          <p:cNvPicPr>
            <a:picLocks noChangeAspect="1"/>
          </p:cNvPicPr>
          <p:nvPr/>
        </p:nvPicPr>
        <p:blipFill>
          <a:blip r:embed="rId3"/>
          <a:stretch>
            <a:fillRect/>
          </a:stretch>
        </p:blipFill>
        <p:spPr>
          <a:xfrm>
            <a:off x="996696" y="1956816"/>
            <a:ext cx="292608" cy="292608"/>
          </a:xfrm>
          <a:prstGeom prst="rect">
            <a:avLst/>
          </a:prstGeom>
        </p:spPr>
      </p:pic>
      <p:sp>
        <p:nvSpPr>
          <p:cNvPr id="7" name="Text 4"/>
          <p:cNvSpPr/>
          <p:nvPr/>
        </p:nvSpPr>
        <p:spPr>
          <a:xfrm>
            <a:off x="1554480" y="1874520"/>
            <a:ext cx="4114800" cy="4572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Definition</a:t>
            </a:r>
            <a:endParaRPr lang="en-US" sz="1600" dirty="0"/>
          </a:p>
        </p:txBody>
      </p:sp>
      <p:sp>
        <p:nvSpPr>
          <p:cNvPr id="8" name="Text 5"/>
          <p:cNvSpPr/>
          <p:nvPr/>
        </p:nvSpPr>
        <p:spPr>
          <a:xfrm>
            <a:off x="868680" y="2514600"/>
            <a:ext cx="4709160" cy="1371600"/>
          </a:xfrm>
          <a:prstGeom prst="rect">
            <a:avLst/>
          </a:prstGeom>
          <a:noFill/>
          <a:ln/>
        </p:spPr>
        <p:txBody>
          <a:bodyPr wrap="square" rtlCol="0" anchor="ctr"/>
          <a:lstStyle/>
          <a:p>
            <a:pPr marL="0" indent="0">
              <a:lnSpc>
                <a:spcPts val="1900"/>
              </a:lnSpc>
              <a:buNone/>
            </a:pPr>
            <a:r>
              <a:rPr lang="en-US" sz="1350" dirty="0">
                <a:solidFill>
                  <a:srgbClr val="AFC2D9"/>
                </a:solidFill>
                <a:latin typeface="Calibri" pitchFamily="34" charset="0"/>
                <a:ea typeface="Calibri" pitchFamily="34" charset="-122"/>
                <a:cs typeface="Calibri" pitchFamily="34" charset="-120"/>
              </a:rPr>
              <a:t>Cybersecurity is the practice of protecting networks, systems, devices, and data from unauthorized access, disruption, theft, or damage. It combines technology, processes, and people to keep information confidential, accurate, and available.</a:t>
            </a:r>
            <a:endParaRPr lang="en-US" sz="1350" dirty="0"/>
          </a:p>
        </p:txBody>
      </p:sp>
      <p:sp>
        <p:nvSpPr>
          <p:cNvPr id="9" name="Shape 6"/>
          <p:cNvSpPr/>
          <p:nvPr/>
        </p:nvSpPr>
        <p:spPr>
          <a:xfrm>
            <a:off x="868680" y="3977640"/>
            <a:ext cx="4709160" cy="0"/>
          </a:xfrm>
          <a:prstGeom prst="line">
            <a:avLst/>
          </a:prstGeom>
          <a:noFill/>
          <a:ln w="12700">
            <a:solidFill>
              <a:srgbClr val="1C3660"/>
            </a:solidFill>
            <a:prstDash val="solid"/>
          </a:ln>
        </p:spPr>
      </p:sp>
      <p:sp>
        <p:nvSpPr>
          <p:cNvPr id="10" name="Text 7"/>
          <p:cNvSpPr/>
          <p:nvPr/>
        </p:nvSpPr>
        <p:spPr>
          <a:xfrm>
            <a:off x="868680" y="4160520"/>
            <a:ext cx="4709160" cy="1554480"/>
          </a:xfrm>
          <a:prstGeom prst="rect">
            <a:avLst/>
          </a:prstGeom>
          <a:noFill/>
          <a:ln/>
        </p:spPr>
        <p:txBody>
          <a:bodyPr wrap="square" rtlCol="0" anchor="ctr"/>
          <a:lstStyle/>
          <a:p>
            <a:pPr marL="0" indent="0">
              <a:lnSpc>
                <a:spcPts val="1900"/>
              </a:lnSpc>
              <a:buNone/>
            </a:pPr>
            <a:r>
              <a:rPr lang="en-US" sz="1350" dirty="0">
                <a:solidFill>
                  <a:srgbClr val="AFC2D9"/>
                </a:solidFill>
                <a:latin typeface="Calibri" pitchFamily="34" charset="0"/>
                <a:ea typeface="Calibri" pitchFamily="34" charset="-122"/>
                <a:cs typeface="Calibri" pitchFamily="34" charset="-120"/>
              </a:rPr>
              <a:t>It rests on three pillars often called the CIA triad — Confidentiality, Integrity, and Availability — which together ensure information stays private, trustworthy, and accessible only to the right people.</a:t>
            </a:r>
            <a:endParaRPr lang="en-US" sz="1350" dirty="0"/>
          </a:p>
        </p:txBody>
      </p:sp>
      <p:sp>
        <p:nvSpPr>
          <p:cNvPr id="11" name="Text 8"/>
          <p:cNvSpPr/>
          <p:nvPr/>
        </p:nvSpPr>
        <p:spPr>
          <a:xfrm>
            <a:off x="6172200" y="1508760"/>
            <a:ext cx="5486400" cy="365760"/>
          </a:xfrm>
          <a:prstGeom prst="rect">
            <a:avLst/>
          </a:prstGeom>
          <a:noFill/>
          <a:ln/>
        </p:spPr>
        <p:txBody>
          <a:bodyPr wrap="square" rtlCol="0" anchor="ctr"/>
          <a:lstStyle/>
          <a:p>
            <a:pPr marL="0" indent="0">
              <a:buNone/>
            </a:pPr>
            <a:r>
              <a:rPr lang="en-US" sz="1600" b="1" dirty="0">
                <a:solidFill>
                  <a:srgbClr val="16233A"/>
                </a:solidFill>
                <a:latin typeface="Calibri" pitchFamily="34" charset="0"/>
                <a:ea typeface="Calibri" pitchFamily="34" charset="-122"/>
                <a:cs typeface="Calibri" pitchFamily="34" charset="-120"/>
              </a:rPr>
              <a:t>Why It Matters</a:t>
            </a:r>
            <a:endParaRPr lang="en-US" sz="1600" dirty="0"/>
          </a:p>
        </p:txBody>
      </p:sp>
      <p:sp>
        <p:nvSpPr>
          <p:cNvPr id="12" name="Shape 9"/>
          <p:cNvSpPr/>
          <p:nvPr/>
        </p:nvSpPr>
        <p:spPr>
          <a:xfrm>
            <a:off x="6172200" y="1965960"/>
            <a:ext cx="5349240" cy="1188720"/>
          </a:xfrm>
          <a:prstGeom prst="roundRect">
            <a:avLst>
              <a:gd name="adj" fmla="val 5385"/>
            </a:avLst>
          </a:prstGeom>
          <a:solidFill>
            <a:srgbClr val="F3F6FA"/>
          </a:solidFill>
          <a:ln/>
        </p:spPr>
      </p:sp>
      <p:sp>
        <p:nvSpPr>
          <p:cNvPr id="13" name="Text 10"/>
          <p:cNvSpPr/>
          <p:nvPr/>
        </p:nvSpPr>
        <p:spPr>
          <a:xfrm>
            <a:off x="6446520" y="2103120"/>
            <a:ext cx="4846320" cy="320040"/>
          </a:xfrm>
          <a:prstGeom prst="rect">
            <a:avLst/>
          </a:prstGeom>
          <a:noFill/>
          <a:ln/>
        </p:spPr>
        <p:txBody>
          <a:bodyPr wrap="square" rtlCol="0" anchor="ctr"/>
          <a:lstStyle/>
          <a:p>
            <a:pPr marL="0" indent="0">
              <a:buNone/>
            </a:pPr>
            <a:r>
              <a:rPr lang="en-US" sz="1400" b="1" dirty="0">
                <a:solidFill>
                  <a:srgbClr val="047C71"/>
                </a:solidFill>
                <a:latin typeface="Calibri" pitchFamily="34" charset="0"/>
                <a:ea typeface="Calibri" pitchFamily="34" charset="-122"/>
                <a:cs typeface="Calibri" pitchFamily="34" charset="-120"/>
              </a:rPr>
              <a:t>For Individuals</a:t>
            </a:r>
            <a:endParaRPr lang="en-US" sz="1400" dirty="0"/>
          </a:p>
        </p:txBody>
      </p:sp>
      <p:sp>
        <p:nvSpPr>
          <p:cNvPr id="14" name="Text 11"/>
          <p:cNvSpPr/>
          <p:nvPr/>
        </p:nvSpPr>
        <p:spPr>
          <a:xfrm>
            <a:off x="6446520" y="2441448"/>
            <a:ext cx="4846320" cy="640080"/>
          </a:xfrm>
          <a:prstGeom prst="rect">
            <a:avLst/>
          </a:prstGeom>
          <a:noFill/>
          <a:ln/>
        </p:spPr>
        <p:txBody>
          <a:bodyPr wrap="square" rtlCol="0" anchor="ctr"/>
          <a:lstStyle/>
          <a:p>
            <a:pPr marL="0" indent="0">
              <a:lnSpc>
                <a:spcPts val="1500"/>
              </a:lnSpc>
              <a:buNone/>
            </a:pPr>
            <a:r>
              <a:rPr lang="en-US" sz="1200" dirty="0">
                <a:solidFill>
                  <a:srgbClr val="5B6B82"/>
                </a:solidFill>
                <a:latin typeface="Calibri" pitchFamily="34" charset="0"/>
                <a:ea typeface="Calibri" pitchFamily="34" charset="-122"/>
                <a:cs typeface="Calibri" pitchFamily="34" charset="-120"/>
              </a:rPr>
              <a:t>Personal data, banking details, and identities are prime targets — a single breach can mean drained accounts or stolen identities.</a:t>
            </a:r>
            <a:endParaRPr lang="en-US" sz="1200" dirty="0"/>
          </a:p>
        </p:txBody>
      </p:sp>
      <p:sp>
        <p:nvSpPr>
          <p:cNvPr id="15" name="Shape 12"/>
          <p:cNvSpPr/>
          <p:nvPr/>
        </p:nvSpPr>
        <p:spPr>
          <a:xfrm>
            <a:off x="6172200" y="3337560"/>
            <a:ext cx="5349240" cy="1188720"/>
          </a:xfrm>
          <a:prstGeom prst="roundRect">
            <a:avLst>
              <a:gd name="adj" fmla="val 5385"/>
            </a:avLst>
          </a:prstGeom>
          <a:solidFill>
            <a:srgbClr val="F3F6FA"/>
          </a:solidFill>
          <a:ln/>
        </p:spPr>
      </p:sp>
      <p:sp>
        <p:nvSpPr>
          <p:cNvPr id="16" name="Text 13"/>
          <p:cNvSpPr/>
          <p:nvPr/>
        </p:nvSpPr>
        <p:spPr>
          <a:xfrm>
            <a:off x="6446520" y="3474720"/>
            <a:ext cx="4846320" cy="320040"/>
          </a:xfrm>
          <a:prstGeom prst="rect">
            <a:avLst/>
          </a:prstGeom>
          <a:noFill/>
          <a:ln/>
        </p:spPr>
        <p:txBody>
          <a:bodyPr wrap="square" rtlCol="0" anchor="ctr"/>
          <a:lstStyle/>
          <a:p>
            <a:pPr marL="0" indent="0">
              <a:buNone/>
            </a:pPr>
            <a:r>
              <a:rPr lang="en-US" sz="1400" b="1" dirty="0">
                <a:solidFill>
                  <a:srgbClr val="047C71"/>
                </a:solidFill>
                <a:latin typeface="Calibri" pitchFamily="34" charset="0"/>
                <a:ea typeface="Calibri" pitchFamily="34" charset="-122"/>
                <a:cs typeface="Calibri" pitchFamily="34" charset="-120"/>
              </a:rPr>
              <a:t>For Businesses</a:t>
            </a:r>
            <a:endParaRPr lang="en-US" sz="1400" dirty="0"/>
          </a:p>
        </p:txBody>
      </p:sp>
      <p:sp>
        <p:nvSpPr>
          <p:cNvPr id="17" name="Text 14"/>
          <p:cNvSpPr/>
          <p:nvPr/>
        </p:nvSpPr>
        <p:spPr>
          <a:xfrm>
            <a:off x="6446520" y="3813048"/>
            <a:ext cx="4846320" cy="640080"/>
          </a:xfrm>
          <a:prstGeom prst="rect">
            <a:avLst/>
          </a:prstGeom>
          <a:noFill/>
          <a:ln/>
        </p:spPr>
        <p:txBody>
          <a:bodyPr wrap="square" rtlCol="0" anchor="ctr"/>
          <a:lstStyle/>
          <a:p>
            <a:pPr marL="0" indent="0">
              <a:lnSpc>
                <a:spcPts val="1500"/>
              </a:lnSpc>
              <a:buNone/>
            </a:pPr>
            <a:r>
              <a:rPr lang="en-US" sz="1200" dirty="0">
                <a:solidFill>
                  <a:srgbClr val="5B6B82"/>
                </a:solidFill>
                <a:latin typeface="Calibri" pitchFamily="34" charset="0"/>
                <a:ea typeface="Calibri" pitchFamily="34" charset="-122"/>
                <a:cs typeface="Calibri" pitchFamily="34" charset="-120"/>
              </a:rPr>
              <a:t>Customer trust, intellectual property, and daily operations all depend on secure systems; one incident can halt revenue for weeks.</a:t>
            </a:r>
            <a:endParaRPr lang="en-US" sz="1200" dirty="0"/>
          </a:p>
        </p:txBody>
      </p:sp>
      <p:sp>
        <p:nvSpPr>
          <p:cNvPr id="18" name="Shape 15"/>
          <p:cNvSpPr/>
          <p:nvPr/>
        </p:nvSpPr>
        <p:spPr>
          <a:xfrm>
            <a:off x="6172200" y="4709160"/>
            <a:ext cx="5349240" cy="1188720"/>
          </a:xfrm>
          <a:prstGeom prst="roundRect">
            <a:avLst>
              <a:gd name="adj" fmla="val 5385"/>
            </a:avLst>
          </a:prstGeom>
          <a:solidFill>
            <a:srgbClr val="F3F6FA"/>
          </a:solidFill>
          <a:ln/>
        </p:spPr>
      </p:sp>
      <p:sp>
        <p:nvSpPr>
          <p:cNvPr id="19" name="Text 16"/>
          <p:cNvSpPr/>
          <p:nvPr/>
        </p:nvSpPr>
        <p:spPr>
          <a:xfrm>
            <a:off x="6446520" y="4846320"/>
            <a:ext cx="4846320" cy="320040"/>
          </a:xfrm>
          <a:prstGeom prst="rect">
            <a:avLst/>
          </a:prstGeom>
          <a:noFill/>
          <a:ln/>
        </p:spPr>
        <p:txBody>
          <a:bodyPr wrap="square" rtlCol="0" anchor="ctr"/>
          <a:lstStyle/>
          <a:p>
            <a:pPr marL="0" indent="0">
              <a:buNone/>
            </a:pPr>
            <a:r>
              <a:rPr lang="en-US" sz="1400" b="1" dirty="0">
                <a:solidFill>
                  <a:srgbClr val="047C71"/>
                </a:solidFill>
                <a:latin typeface="Calibri" pitchFamily="34" charset="0"/>
                <a:ea typeface="Calibri" pitchFamily="34" charset="-122"/>
                <a:cs typeface="Calibri" pitchFamily="34" charset="-120"/>
              </a:rPr>
              <a:t>For Society</a:t>
            </a:r>
            <a:endParaRPr lang="en-US" sz="1400" dirty="0"/>
          </a:p>
        </p:txBody>
      </p:sp>
      <p:sp>
        <p:nvSpPr>
          <p:cNvPr id="20" name="Text 17"/>
          <p:cNvSpPr/>
          <p:nvPr/>
        </p:nvSpPr>
        <p:spPr>
          <a:xfrm>
            <a:off x="6446520" y="5184648"/>
            <a:ext cx="4846320" cy="640080"/>
          </a:xfrm>
          <a:prstGeom prst="rect">
            <a:avLst/>
          </a:prstGeom>
          <a:noFill/>
          <a:ln/>
        </p:spPr>
        <p:txBody>
          <a:bodyPr wrap="square" rtlCol="0" anchor="ctr"/>
          <a:lstStyle/>
          <a:p>
            <a:pPr marL="0" indent="0">
              <a:lnSpc>
                <a:spcPts val="1500"/>
              </a:lnSpc>
              <a:buNone/>
            </a:pPr>
            <a:r>
              <a:rPr lang="en-US" sz="1200" dirty="0">
                <a:solidFill>
                  <a:srgbClr val="5B6B82"/>
                </a:solidFill>
                <a:latin typeface="Calibri" pitchFamily="34" charset="0"/>
                <a:ea typeface="Calibri" pitchFamily="34" charset="-122"/>
                <a:cs typeface="Calibri" pitchFamily="34" charset="-120"/>
              </a:rPr>
              <a:t>Hospitals, power grids, and financial systems are digital-first — an attack on infrastructure now puts public safety at risk.</a:t>
            </a:r>
            <a:endParaRPr lang="en-US" sz="1200" dirty="0"/>
          </a:p>
        </p:txBody>
      </p:sp>
      <p:sp>
        <p:nvSpPr>
          <p:cNvPr id="21" name="Text 18"/>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0D9C0"/>
                </a:solidFill>
                <a:latin typeface="Calibri" pitchFamily="34" charset="0"/>
                <a:ea typeface="Calibri" pitchFamily="34" charset="-122"/>
                <a:cs typeface="Calibri" pitchFamily="34" charset="-120"/>
              </a:rPr>
              <a:t>01 · CURRENT RELEVANCE</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A Threat Landscape Accelerated by AI and Digital Dependency</a:t>
            </a:r>
            <a:endParaRPr lang="en-US" sz="2700" dirty="0"/>
          </a:p>
        </p:txBody>
      </p:sp>
      <p:sp>
        <p:nvSpPr>
          <p:cNvPr id="4" name="Text 2"/>
          <p:cNvSpPr/>
          <p:nvPr/>
        </p:nvSpPr>
        <p:spPr>
          <a:xfrm>
            <a:off x="548640" y="1417320"/>
            <a:ext cx="10789920" cy="548640"/>
          </a:xfrm>
          <a:prstGeom prst="rect">
            <a:avLst/>
          </a:prstGeom>
          <a:noFill/>
          <a:ln/>
        </p:spPr>
        <p:txBody>
          <a:bodyPr wrap="square" rtlCol="0" anchor="ctr"/>
          <a:lstStyle/>
          <a:p>
            <a:pPr marL="0" indent="0">
              <a:lnSpc>
                <a:spcPts val="1800"/>
              </a:lnSpc>
              <a:buNone/>
            </a:pPr>
            <a:r>
              <a:rPr lang="en-US" sz="1400" dirty="0">
                <a:solidFill>
                  <a:srgbClr val="AFC2D9"/>
                </a:solidFill>
                <a:latin typeface="Calibri" pitchFamily="34" charset="0"/>
                <a:ea typeface="Calibri" pitchFamily="34" charset="-122"/>
                <a:cs typeface="Calibri" pitchFamily="34" charset="-120"/>
              </a:rPr>
              <a:t>Cybercrime is no longer occasional or opportunistic. As individuals and organizations move more of life and business online, attackers are using generative AI to scale deception faster than defenses can adapt.</a:t>
            </a:r>
            <a:endParaRPr lang="en-US" sz="1400" dirty="0"/>
          </a:p>
        </p:txBody>
      </p:sp>
      <p:sp>
        <p:nvSpPr>
          <p:cNvPr id="5" name="Shape 3"/>
          <p:cNvSpPr/>
          <p:nvPr/>
        </p:nvSpPr>
        <p:spPr>
          <a:xfrm>
            <a:off x="548640" y="2331720"/>
            <a:ext cx="2606040" cy="3383280"/>
          </a:xfrm>
          <a:prstGeom prst="roundRect">
            <a:avLst>
              <a:gd name="adj" fmla="val 3158"/>
            </a:avLst>
          </a:prstGeom>
          <a:solidFill>
            <a:srgbClr val="13294B"/>
          </a:solidFill>
          <a:ln/>
        </p:spPr>
      </p:sp>
      <p:sp>
        <p:nvSpPr>
          <p:cNvPr id="6" name="Shape 4"/>
          <p:cNvSpPr/>
          <p:nvPr/>
        </p:nvSpPr>
        <p:spPr>
          <a:xfrm>
            <a:off x="777240" y="2606040"/>
            <a:ext cx="502920" cy="502920"/>
          </a:xfrm>
          <a:prstGeom prst="ellipse">
            <a:avLst/>
          </a:prstGeom>
          <a:solidFill>
            <a:srgbClr val="00D9C0"/>
          </a:solidFill>
          <a:ln/>
        </p:spPr>
      </p:sp>
      <p:pic>
        <p:nvPicPr>
          <p:cNvPr id="7" name="Image 0" descr="/home/claude/deck/icon_chart.png"/>
          <p:cNvPicPr>
            <a:picLocks noChangeAspect="1"/>
          </p:cNvPicPr>
          <p:nvPr/>
        </p:nvPicPr>
        <p:blipFill>
          <a:blip r:embed="rId3"/>
          <a:stretch>
            <a:fillRect/>
          </a:stretch>
        </p:blipFill>
        <p:spPr>
          <a:xfrm>
            <a:off x="896112" y="2724912"/>
            <a:ext cx="265176" cy="265176"/>
          </a:xfrm>
          <a:prstGeom prst="rect">
            <a:avLst/>
          </a:prstGeom>
        </p:spPr>
      </p:pic>
      <p:sp>
        <p:nvSpPr>
          <p:cNvPr id="8" name="Text 5"/>
          <p:cNvSpPr/>
          <p:nvPr/>
        </p:nvSpPr>
        <p:spPr>
          <a:xfrm>
            <a:off x="731520" y="3337560"/>
            <a:ext cx="2240280" cy="685800"/>
          </a:xfrm>
          <a:prstGeom prst="rect">
            <a:avLst/>
          </a:prstGeom>
          <a:noFill/>
          <a:ln/>
        </p:spPr>
        <p:txBody>
          <a:bodyPr wrap="square" rtlCol="0" anchor="ctr"/>
          <a:lstStyle/>
          <a:p>
            <a:pPr marL="0" indent="0">
              <a:buNone/>
            </a:pPr>
            <a:r>
              <a:rPr lang="en-US" sz="3400" b="1" dirty="0">
                <a:solidFill>
                  <a:srgbClr val="00D9C0"/>
                </a:solidFill>
                <a:latin typeface="Cambria" pitchFamily="34" charset="0"/>
                <a:ea typeface="Cambria" pitchFamily="34" charset="-122"/>
                <a:cs typeface="Cambria" pitchFamily="34" charset="-120"/>
              </a:rPr>
              <a:t>$4.88M</a:t>
            </a:r>
            <a:endParaRPr lang="en-US" sz="3400" dirty="0"/>
          </a:p>
        </p:txBody>
      </p:sp>
      <p:sp>
        <p:nvSpPr>
          <p:cNvPr id="9" name="Text 6"/>
          <p:cNvSpPr/>
          <p:nvPr/>
        </p:nvSpPr>
        <p:spPr>
          <a:xfrm>
            <a:off x="749808" y="4114800"/>
            <a:ext cx="2203704" cy="1463040"/>
          </a:xfrm>
          <a:prstGeom prst="rect">
            <a:avLst/>
          </a:prstGeom>
          <a:noFill/>
          <a:ln/>
        </p:spPr>
        <p:txBody>
          <a:bodyPr wrap="square" rtlCol="0" anchor="ctr"/>
          <a:lstStyle/>
          <a:p>
            <a:pPr marL="0" indent="0">
              <a:lnSpc>
                <a:spcPts val="1500"/>
              </a:lnSpc>
              <a:buNone/>
            </a:pPr>
            <a:r>
              <a:rPr lang="en-US" sz="1150" dirty="0">
                <a:solidFill>
                  <a:srgbClr val="AFC2D9"/>
                </a:solidFill>
                <a:latin typeface="Calibri" pitchFamily="34" charset="0"/>
                <a:ea typeface="Calibri" pitchFamily="34" charset="-122"/>
                <a:cs typeface="Calibri" pitchFamily="34" charset="-120"/>
              </a:rPr>
              <a:t>Average cost of a data breach where phishing was the initial attack vector</a:t>
            </a:r>
            <a:endParaRPr lang="en-US" sz="1150" dirty="0"/>
          </a:p>
        </p:txBody>
      </p:sp>
      <p:sp>
        <p:nvSpPr>
          <p:cNvPr id="10" name="Shape 7"/>
          <p:cNvSpPr/>
          <p:nvPr/>
        </p:nvSpPr>
        <p:spPr>
          <a:xfrm>
            <a:off x="3383280" y="2331720"/>
            <a:ext cx="2606040" cy="3383280"/>
          </a:xfrm>
          <a:prstGeom prst="roundRect">
            <a:avLst>
              <a:gd name="adj" fmla="val 3158"/>
            </a:avLst>
          </a:prstGeom>
          <a:solidFill>
            <a:srgbClr val="13294B"/>
          </a:solidFill>
          <a:ln/>
        </p:spPr>
      </p:sp>
      <p:sp>
        <p:nvSpPr>
          <p:cNvPr id="11" name="Shape 8"/>
          <p:cNvSpPr/>
          <p:nvPr/>
        </p:nvSpPr>
        <p:spPr>
          <a:xfrm>
            <a:off x="3611880" y="2606040"/>
            <a:ext cx="502920" cy="502920"/>
          </a:xfrm>
          <a:prstGeom prst="ellipse">
            <a:avLst/>
          </a:prstGeom>
          <a:solidFill>
            <a:srgbClr val="00D9C0"/>
          </a:solidFill>
          <a:ln/>
        </p:spPr>
      </p:sp>
      <p:pic>
        <p:nvPicPr>
          <p:cNvPr id="12" name="Image 1" descr="/home/claude/deck/icon_usersecret.png"/>
          <p:cNvPicPr>
            <a:picLocks noChangeAspect="1"/>
          </p:cNvPicPr>
          <p:nvPr/>
        </p:nvPicPr>
        <p:blipFill>
          <a:blip r:embed="rId4"/>
          <a:stretch>
            <a:fillRect/>
          </a:stretch>
        </p:blipFill>
        <p:spPr>
          <a:xfrm>
            <a:off x="3730752" y="2724912"/>
            <a:ext cx="265176" cy="265176"/>
          </a:xfrm>
          <a:prstGeom prst="rect">
            <a:avLst/>
          </a:prstGeom>
        </p:spPr>
      </p:pic>
      <p:sp>
        <p:nvSpPr>
          <p:cNvPr id="13" name="Text 9"/>
          <p:cNvSpPr/>
          <p:nvPr/>
        </p:nvSpPr>
        <p:spPr>
          <a:xfrm>
            <a:off x="3566160" y="3337560"/>
            <a:ext cx="2240280" cy="685800"/>
          </a:xfrm>
          <a:prstGeom prst="rect">
            <a:avLst/>
          </a:prstGeom>
          <a:noFill/>
          <a:ln/>
        </p:spPr>
        <p:txBody>
          <a:bodyPr wrap="square" rtlCol="0" anchor="ctr"/>
          <a:lstStyle/>
          <a:p>
            <a:pPr marL="0" indent="0">
              <a:buNone/>
            </a:pPr>
            <a:r>
              <a:rPr lang="en-US" sz="3400" b="1" dirty="0">
                <a:solidFill>
                  <a:srgbClr val="00D9C0"/>
                </a:solidFill>
                <a:latin typeface="Cambria" pitchFamily="34" charset="0"/>
                <a:ea typeface="Cambria" pitchFamily="34" charset="-122"/>
                <a:cs typeface="Cambria" pitchFamily="34" charset="-120"/>
              </a:rPr>
              <a:t>54%</a:t>
            </a:r>
            <a:endParaRPr lang="en-US" sz="3400" dirty="0"/>
          </a:p>
        </p:txBody>
      </p:sp>
      <p:sp>
        <p:nvSpPr>
          <p:cNvPr id="14" name="Text 10"/>
          <p:cNvSpPr/>
          <p:nvPr/>
        </p:nvSpPr>
        <p:spPr>
          <a:xfrm>
            <a:off x="3584448" y="4114800"/>
            <a:ext cx="2203704" cy="1463040"/>
          </a:xfrm>
          <a:prstGeom prst="rect">
            <a:avLst/>
          </a:prstGeom>
          <a:noFill/>
          <a:ln/>
        </p:spPr>
        <p:txBody>
          <a:bodyPr wrap="square" rtlCol="0" anchor="ctr"/>
          <a:lstStyle/>
          <a:p>
            <a:pPr marL="0" indent="0">
              <a:lnSpc>
                <a:spcPts val="1500"/>
              </a:lnSpc>
              <a:buNone/>
            </a:pPr>
            <a:r>
              <a:rPr lang="en-US" sz="1150" dirty="0">
                <a:solidFill>
                  <a:srgbClr val="AFC2D9"/>
                </a:solidFill>
                <a:latin typeface="Calibri" pitchFamily="34" charset="0"/>
                <a:ea typeface="Calibri" pitchFamily="34" charset="-122"/>
                <a:cs typeface="Calibri" pitchFamily="34" charset="-120"/>
              </a:rPr>
              <a:t>Success rate of AI-generated phishing emails against human targets — about 4.5x the human-written rate</a:t>
            </a:r>
            <a:endParaRPr lang="en-US" sz="1150" dirty="0"/>
          </a:p>
        </p:txBody>
      </p:sp>
      <p:sp>
        <p:nvSpPr>
          <p:cNvPr id="15" name="Shape 11"/>
          <p:cNvSpPr/>
          <p:nvPr/>
        </p:nvSpPr>
        <p:spPr>
          <a:xfrm>
            <a:off x="6217920" y="2331720"/>
            <a:ext cx="2606040" cy="3383280"/>
          </a:xfrm>
          <a:prstGeom prst="roundRect">
            <a:avLst>
              <a:gd name="adj" fmla="val 3158"/>
            </a:avLst>
          </a:prstGeom>
          <a:solidFill>
            <a:srgbClr val="13294B"/>
          </a:solidFill>
          <a:ln/>
        </p:spPr>
      </p:sp>
      <p:sp>
        <p:nvSpPr>
          <p:cNvPr id="16" name="Shape 12"/>
          <p:cNvSpPr/>
          <p:nvPr/>
        </p:nvSpPr>
        <p:spPr>
          <a:xfrm>
            <a:off x="6446520" y="2606040"/>
            <a:ext cx="502920" cy="502920"/>
          </a:xfrm>
          <a:prstGeom prst="ellipse">
            <a:avLst/>
          </a:prstGeom>
          <a:solidFill>
            <a:srgbClr val="00D9C0"/>
          </a:solidFill>
          <a:ln/>
        </p:spPr>
      </p:sp>
      <p:pic>
        <p:nvPicPr>
          <p:cNvPr id="17" name="Image 2" descr="/home/claude/deck/icon_wifi.png"/>
          <p:cNvPicPr>
            <a:picLocks noChangeAspect="1"/>
          </p:cNvPicPr>
          <p:nvPr/>
        </p:nvPicPr>
        <p:blipFill>
          <a:blip r:embed="rId5"/>
          <a:stretch>
            <a:fillRect/>
          </a:stretch>
        </p:blipFill>
        <p:spPr>
          <a:xfrm>
            <a:off x="6565392" y="2724912"/>
            <a:ext cx="265176" cy="265176"/>
          </a:xfrm>
          <a:prstGeom prst="rect">
            <a:avLst/>
          </a:prstGeom>
        </p:spPr>
      </p:pic>
      <p:sp>
        <p:nvSpPr>
          <p:cNvPr id="18" name="Text 13"/>
          <p:cNvSpPr/>
          <p:nvPr/>
        </p:nvSpPr>
        <p:spPr>
          <a:xfrm>
            <a:off x="6400800" y="3337560"/>
            <a:ext cx="2240280" cy="685800"/>
          </a:xfrm>
          <a:prstGeom prst="rect">
            <a:avLst/>
          </a:prstGeom>
          <a:noFill/>
          <a:ln/>
        </p:spPr>
        <p:txBody>
          <a:bodyPr wrap="square" rtlCol="0" anchor="ctr"/>
          <a:lstStyle/>
          <a:p>
            <a:pPr marL="0" indent="0">
              <a:buNone/>
            </a:pPr>
            <a:r>
              <a:rPr lang="en-US" sz="3400" b="1" dirty="0">
                <a:solidFill>
                  <a:srgbClr val="00D9C0"/>
                </a:solidFill>
                <a:latin typeface="Cambria" pitchFamily="34" charset="0"/>
                <a:ea typeface="Cambria" pitchFamily="34" charset="-122"/>
                <a:cs typeface="Cambria" pitchFamily="34" charset="-120"/>
              </a:rPr>
              <a:t>41.6B</a:t>
            </a:r>
            <a:endParaRPr lang="en-US" sz="3400" dirty="0"/>
          </a:p>
        </p:txBody>
      </p:sp>
      <p:sp>
        <p:nvSpPr>
          <p:cNvPr id="19" name="Text 14"/>
          <p:cNvSpPr/>
          <p:nvPr/>
        </p:nvSpPr>
        <p:spPr>
          <a:xfrm>
            <a:off x="6419088" y="4114800"/>
            <a:ext cx="2203704" cy="1463040"/>
          </a:xfrm>
          <a:prstGeom prst="rect">
            <a:avLst/>
          </a:prstGeom>
          <a:noFill/>
          <a:ln/>
        </p:spPr>
        <p:txBody>
          <a:bodyPr wrap="square" rtlCol="0" anchor="ctr"/>
          <a:lstStyle/>
          <a:p>
            <a:pPr marL="0" indent="0">
              <a:lnSpc>
                <a:spcPts val="1500"/>
              </a:lnSpc>
              <a:buNone/>
            </a:pPr>
            <a:r>
              <a:rPr lang="en-US" sz="1150" dirty="0">
                <a:solidFill>
                  <a:srgbClr val="AFC2D9"/>
                </a:solidFill>
                <a:latin typeface="Calibri" pitchFamily="34" charset="0"/>
                <a:ea typeface="Calibri" pitchFamily="34" charset="-122"/>
                <a:cs typeface="Calibri" pitchFamily="34" charset="-120"/>
              </a:rPr>
              <a:t>IoT devices projected to be connected worldwide by 2025, each a potential entry point</a:t>
            </a:r>
            <a:endParaRPr lang="en-US" sz="1150" dirty="0"/>
          </a:p>
        </p:txBody>
      </p:sp>
      <p:sp>
        <p:nvSpPr>
          <p:cNvPr id="20" name="Shape 15"/>
          <p:cNvSpPr/>
          <p:nvPr/>
        </p:nvSpPr>
        <p:spPr>
          <a:xfrm>
            <a:off x="9052560" y="2331720"/>
            <a:ext cx="2606040" cy="3383280"/>
          </a:xfrm>
          <a:prstGeom prst="roundRect">
            <a:avLst>
              <a:gd name="adj" fmla="val 3158"/>
            </a:avLst>
          </a:prstGeom>
          <a:solidFill>
            <a:srgbClr val="13294B"/>
          </a:solidFill>
          <a:ln/>
        </p:spPr>
      </p:sp>
      <p:sp>
        <p:nvSpPr>
          <p:cNvPr id="21" name="Shape 16"/>
          <p:cNvSpPr/>
          <p:nvPr/>
        </p:nvSpPr>
        <p:spPr>
          <a:xfrm>
            <a:off x="9281160" y="2606040"/>
            <a:ext cx="502920" cy="502920"/>
          </a:xfrm>
          <a:prstGeom prst="ellipse">
            <a:avLst/>
          </a:prstGeom>
          <a:solidFill>
            <a:srgbClr val="00D9C0"/>
          </a:solidFill>
          <a:ln/>
        </p:spPr>
      </p:sp>
      <p:pic>
        <p:nvPicPr>
          <p:cNvPr id="22" name="Image 3" descr="/home/claude/deck/icon_cloud.png"/>
          <p:cNvPicPr>
            <a:picLocks noChangeAspect="1"/>
          </p:cNvPicPr>
          <p:nvPr/>
        </p:nvPicPr>
        <p:blipFill>
          <a:blip r:embed="rId6"/>
          <a:stretch>
            <a:fillRect/>
          </a:stretch>
        </p:blipFill>
        <p:spPr>
          <a:xfrm>
            <a:off x="9400032" y="2724912"/>
            <a:ext cx="265176" cy="265176"/>
          </a:xfrm>
          <a:prstGeom prst="rect">
            <a:avLst/>
          </a:prstGeom>
        </p:spPr>
      </p:pic>
      <p:sp>
        <p:nvSpPr>
          <p:cNvPr id="23" name="Text 17"/>
          <p:cNvSpPr/>
          <p:nvPr/>
        </p:nvSpPr>
        <p:spPr>
          <a:xfrm>
            <a:off x="9235440" y="3337560"/>
            <a:ext cx="2240280" cy="685800"/>
          </a:xfrm>
          <a:prstGeom prst="rect">
            <a:avLst/>
          </a:prstGeom>
          <a:noFill/>
          <a:ln/>
        </p:spPr>
        <p:txBody>
          <a:bodyPr wrap="square" rtlCol="0" anchor="ctr"/>
          <a:lstStyle/>
          <a:p>
            <a:pPr marL="0" indent="0">
              <a:buNone/>
            </a:pPr>
            <a:r>
              <a:rPr lang="en-US" sz="3400" b="1" dirty="0">
                <a:solidFill>
                  <a:srgbClr val="00D9C0"/>
                </a:solidFill>
                <a:latin typeface="Cambria" pitchFamily="34" charset="0"/>
                <a:ea typeface="Cambria" pitchFamily="34" charset="-122"/>
                <a:cs typeface="Cambria" pitchFamily="34" charset="-120"/>
              </a:rPr>
              <a:t>1.48%</a:t>
            </a:r>
            <a:endParaRPr lang="en-US" sz="3400" dirty="0"/>
          </a:p>
        </p:txBody>
      </p:sp>
      <p:sp>
        <p:nvSpPr>
          <p:cNvPr id="24" name="Text 18"/>
          <p:cNvSpPr/>
          <p:nvPr/>
        </p:nvSpPr>
        <p:spPr>
          <a:xfrm>
            <a:off x="9253728" y="4114800"/>
            <a:ext cx="2203704" cy="1463040"/>
          </a:xfrm>
          <a:prstGeom prst="rect">
            <a:avLst/>
          </a:prstGeom>
          <a:noFill/>
          <a:ln/>
        </p:spPr>
        <p:txBody>
          <a:bodyPr wrap="square" rtlCol="0" anchor="ctr"/>
          <a:lstStyle/>
          <a:p>
            <a:pPr marL="0" indent="0">
              <a:lnSpc>
                <a:spcPts val="1500"/>
              </a:lnSpc>
              <a:buNone/>
            </a:pPr>
            <a:r>
              <a:rPr lang="en-US" sz="1150" dirty="0">
                <a:solidFill>
                  <a:srgbClr val="AFC2D9"/>
                </a:solidFill>
                <a:latin typeface="Calibri" pitchFamily="34" charset="0"/>
                <a:ea typeface="Calibri" pitchFamily="34" charset="-122"/>
                <a:cs typeface="Calibri" pitchFamily="34" charset="-120"/>
              </a:rPr>
              <a:t>Of all AWS S3 storage buckets found to be effectively public, many holding sensitive data</a:t>
            </a:r>
            <a:endParaRPr lang="en-US" sz="1150" dirty="0"/>
          </a:p>
        </p:txBody>
      </p:sp>
      <p:sp>
        <p:nvSpPr>
          <p:cNvPr id="25" name="Text 19"/>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AFC2D9"/>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47C71"/>
                </a:solidFill>
                <a:latin typeface="Calibri" pitchFamily="34" charset="0"/>
                <a:ea typeface="Calibri" pitchFamily="34" charset="-122"/>
                <a:cs typeface="Calibri" pitchFamily="34" charset="-120"/>
              </a:rPr>
              <a:t>02 · THREAT 1 OF 5</a:t>
            </a:r>
            <a:endParaRPr lang="en-US" sz="1200" dirty="0"/>
          </a:p>
        </p:txBody>
      </p:sp>
      <p:sp>
        <p:nvSpPr>
          <p:cNvPr id="3" name="Text 1"/>
          <p:cNvSpPr/>
          <p:nvPr/>
        </p:nvSpPr>
        <p:spPr>
          <a:xfrm>
            <a:off x="9692640" y="384048"/>
            <a:ext cx="1920240" cy="292608"/>
          </a:xfrm>
          <a:prstGeom prst="rect">
            <a:avLst/>
          </a:prstGeom>
          <a:solidFill>
            <a:srgbClr val="8E44AD"/>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SOCIAL ENGINEERING</a:t>
            </a:r>
            <a:endParaRPr lang="en-US" sz="1100" dirty="0"/>
          </a:p>
        </p:txBody>
      </p:sp>
      <p:sp>
        <p:nvSpPr>
          <p:cNvPr id="4" name="Shape 2"/>
          <p:cNvSpPr/>
          <p:nvPr/>
        </p:nvSpPr>
        <p:spPr>
          <a:xfrm>
            <a:off x="548640" y="713232"/>
            <a:ext cx="594360" cy="594360"/>
          </a:xfrm>
          <a:prstGeom prst="ellipse">
            <a:avLst/>
          </a:prstGeom>
          <a:solidFill>
            <a:srgbClr val="0B1F3A"/>
          </a:solidFill>
          <a:ln/>
        </p:spPr>
      </p:sp>
      <p:pic>
        <p:nvPicPr>
          <p:cNvPr id="5" name="Image 0" descr="/home/claude/deck/icon_usersecret.png"/>
          <p:cNvPicPr>
            <a:picLocks noChangeAspect="1"/>
          </p:cNvPicPr>
          <p:nvPr/>
        </p:nvPicPr>
        <p:blipFill>
          <a:blip r:embed="rId3"/>
          <a:stretch>
            <a:fillRect/>
          </a:stretch>
        </p:blipFill>
        <p:spPr>
          <a:xfrm>
            <a:off x="685800" y="850392"/>
            <a:ext cx="320040" cy="320040"/>
          </a:xfrm>
          <a:prstGeom prst="rect">
            <a:avLst/>
          </a:prstGeom>
        </p:spPr>
      </p:pic>
      <p:sp>
        <p:nvSpPr>
          <p:cNvPr id="6" name="Text 3"/>
          <p:cNvSpPr/>
          <p:nvPr/>
        </p:nvSpPr>
        <p:spPr>
          <a:xfrm>
            <a:off x="1280160" y="658368"/>
            <a:ext cx="7772400" cy="457200"/>
          </a:xfrm>
          <a:prstGeom prst="rect">
            <a:avLst/>
          </a:prstGeom>
          <a:noFill/>
          <a:ln/>
        </p:spPr>
        <p:txBody>
          <a:bodyPr wrap="square" rtlCol="0" anchor="ctr"/>
          <a:lstStyle/>
          <a:p>
            <a:pPr marL="0" indent="0">
              <a:buNone/>
            </a:pPr>
            <a:r>
              <a:rPr lang="en-US" sz="2500" b="1" dirty="0">
                <a:solidFill>
                  <a:srgbClr val="16233A"/>
                </a:solidFill>
                <a:latin typeface="Cambria" pitchFamily="34" charset="0"/>
                <a:ea typeface="Cambria" pitchFamily="34" charset="-122"/>
                <a:cs typeface="Cambria" pitchFamily="34" charset="-120"/>
              </a:rPr>
              <a:t>AI-Powered Phishing &amp; Deepfake Attacks</a:t>
            </a:r>
            <a:endParaRPr lang="en-US" sz="2500" dirty="0"/>
          </a:p>
        </p:txBody>
      </p:sp>
      <p:sp>
        <p:nvSpPr>
          <p:cNvPr id="7" name="Text 4"/>
          <p:cNvSpPr/>
          <p:nvPr/>
        </p:nvSpPr>
        <p:spPr>
          <a:xfrm>
            <a:off x="1280160" y="1097280"/>
            <a:ext cx="9509760" cy="365760"/>
          </a:xfrm>
          <a:prstGeom prst="rect">
            <a:avLst/>
          </a:prstGeom>
          <a:noFill/>
          <a:ln/>
        </p:spPr>
        <p:txBody>
          <a:bodyPr wrap="square" rtlCol="0" anchor="ctr"/>
          <a:lstStyle/>
          <a:p>
            <a:pPr marL="0" indent="0">
              <a:buNone/>
            </a:pPr>
            <a:r>
              <a:rPr lang="en-US" sz="1250" i="1" dirty="0">
                <a:solidFill>
                  <a:srgbClr val="5B6B82"/>
                </a:solidFill>
                <a:latin typeface="Calibri" pitchFamily="34" charset="0"/>
                <a:ea typeface="Calibri" pitchFamily="34" charset="-122"/>
                <a:cs typeface="Calibri" pitchFamily="34" charset="-120"/>
              </a:rPr>
              <a:t>Generative AI now writes flawless phishing emails and clones faces and voices in real time.</a:t>
            </a:r>
            <a:endParaRPr lang="en-US" sz="1250" dirty="0"/>
          </a:p>
        </p:txBody>
      </p:sp>
      <p:sp>
        <p:nvSpPr>
          <p:cNvPr id="8" name="Text 5"/>
          <p:cNvSpPr/>
          <p:nvPr/>
        </p:nvSpPr>
        <p:spPr>
          <a:xfrm>
            <a:off x="548640" y="1691640"/>
            <a:ext cx="6309360" cy="1188720"/>
          </a:xfrm>
          <a:prstGeom prst="rect">
            <a:avLst/>
          </a:prstGeom>
          <a:noFill/>
          <a:ln/>
        </p:spPr>
        <p:txBody>
          <a:bodyPr wrap="square" rtlCol="0" anchor="ctr"/>
          <a:lstStyle/>
          <a:p>
            <a:pPr marL="0" indent="0">
              <a:lnSpc>
                <a:spcPts val="1700"/>
              </a:lnSpc>
              <a:buNone/>
            </a:pPr>
            <a:r>
              <a:rPr lang="en-US" sz="1250" dirty="0">
                <a:solidFill>
                  <a:srgbClr val="16233A"/>
                </a:solidFill>
                <a:latin typeface="Calibri" pitchFamily="34" charset="0"/>
                <a:ea typeface="Calibri" pitchFamily="34" charset="-122"/>
                <a:cs typeface="Calibri" pitchFamily="34" charset="-120"/>
              </a:rPr>
              <a:t>Attackers use large language models to craft grammatically perfect, highly personalized phishing emails, and use voice-cloning or video deepfakes to impersonate executives on calls — bypassing the human instinct to trust a familiar face or voice.</a:t>
            </a:r>
            <a:endParaRPr lang="en-US" sz="1250" dirty="0"/>
          </a:p>
        </p:txBody>
      </p:sp>
      <p:sp>
        <p:nvSpPr>
          <p:cNvPr id="9" name="Text 6"/>
          <p:cNvSpPr/>
          <p:nvPr/>
        </p:nvSpPr>
        <p:spPr>
          <a:xfrm>
            <a:off x="548640" y="2926080"/>
            <a:ext cx="2743200" cy="274320"/>
          </a:xfrm>
          <a:prstGeom prst="rect">
            <a:avLst/>
          </a:prstGeom>
          <a:noFill/>
          <a:ln/>
        </p:spPr>
        <p:txBody>
          <a:bodyPr wrap="square" rtlCol="0" anchor="ctr"/>
          <a:lstStyle/>
          <a:p>
            <a:pPr marL="0" indent="0">
              <a:buNone/>
            </a:pPr>
            <a:r>
              <a:rPr lang="en-US" sz="1100" b="1" kern="0" spc="150" dirty="0">
                <a:solidFill>
                  <a:srgbClr val="047C71"/>
                </a:solidFill>
                <a:latin typeface="Calibri" pitchFamily="34" charset="0"/>
                <a:ea typeface="Calibri" pitchFamily="34" charset="-122"/>
                <a:cs typeface="Calibri" pitchFamily="34" charset="-120"/>
              </a:rPr>
              <a:t>IMPACT</a:t>
            </a:r>
            <a:endParaRPr lang="en-US" sz="1100" dirty="0"/>
          </a:p>
        </p:txBody>
      </p:sp>
      <p:sp>
        <p:nvSpPr>
          <p:cNvPr id="10" name="Shape 7"/>
          <p:cNvSpPr/>
          <p:nvPr/>
        </p:nvSpPr>
        <p:spPr>
          <a:xfrm>
            <a:off x="548640" y="3246120"/>
            <a:ext cx="6309360" cy="868680"/>
          </a:xfrm>
          <a:prstGeom prst="roundRect">
            <a:avLst>
              <a:gd name="adj" fmla="val 6316"/>
            </a:avLst>
          </a:prstGeom>
          <a:solidFill>
            <a:srgbClr val="F3F6FA"/>
          </a:solidFill>
          <a:ln/>
        </p:spPr>
      </p:sp>
      <p:sp>
        <p:nvSpPr>
          <p:cNvPr id="11" name="Text 8"/>
          <p:cNvSpPr/>
          <p:nvPr/>
        </p:nvSpPr>
        <p:spPr>
          <a:xfrm>
            <a:off x="749808" y="3346704"/>
            <a:ext cx="5897880" cy="411480"/>
          </a:xfrm>
          <a:prstGeom prst="rect">
            <a:avLst/>
          </a:prstGeom>
          <a:noFill/>
          <a:ln/>
        </p:spPr>
        <p:txBody>
          <a:bodyPr wrap="square" rtlCol="0" anchor="ctr"/>
          <a:lstStyle/>
          <a:p>
            <a:pPr marL="0" indent="0">
              <a:lnSpc>
                <a:spcPts val="1400"/>
              </a:lnSpc>
              <a:buNone/>
            </a:pPr>
            <a:r>
              <a:rPr lang="en-US" sz="1150" b="1" dirty="0">
                <a:solidFill>
                  <a:srgbClr val="16233A"/>
                </a:solidFill>
                <a:latin typeface="Calibri" pitchFamily="34" charset="0"/>
                <a:ea typeface="Calibri" pitchFamily="34" charset="-122"/>
                <a:cs typeface="Calibri" pitchFamily="34" charset="-120"/>
              </a:rPr>
              <a:t>Individuals:  </a:t>
            </a:r>
            <a:r>
              <a:rPr lang="en-US" sz="1150" dirty="0">
                <a:solidFill>
                  <a:srgbClr val="5B6B82"/>
                </a:solidFill>
                <a:latin typeface="Calibri" pitchFamily="34" charset="0"/>
                <a:ea typeface="Calibri" pitchFamily="34" charset="-122"/>
                <a:cs typeface="Calibri" pitchFamily="34" charset="-120"/>
              </a:rPr>
              <a:t>identity theft, drained bank accounts, and fraudulent transfers authorized under false pretenses.</a:t>
            </a:r>
            <a:endParaRPr lang="en-US" sz="1150" dirty="0"/>
          </a:p>
        </p:txBody>
      </p:sp>
      <p:sp>
        <p:nvSpPr>
          <p:cNvPr id="12" name="Text 9"/>
          <p:cNvSpPr/>
          <p:nvPr/>
        </p:nvSpPr>
        <p:spPr>
          <a:xfrm>
            <a:off x="749808" y="3730752"/>
            <a:ext cx="5897880" cy="411480"/>
          </a:xfrm>
          <a:prstGeom prst="rect">
            <a:avLst/>
          </a:prstGeom>
          <a:noFill/>
          <a:ln/>
        </p:spPr>
        <p:txBody>
          <a:bodyPr wrap="square" rtlCol="0" anchor="ctr"/>
          <a:lstStyle/>
          <a:p>
            <a:pPr marL="0" indent="0">
              <a:lnSpc>
                <a:spcPts val="1400"/>
              </a:lnSpc>
              <a:buNone/>
            </a:pPr>
            <a:r>
              <a:rPr lang="en-US" sz="1150" b="1" dirty="0">
                <a:solidFill>
                  <a:srgbClr val="16233A"/>
                </a:solidFill>
                <a:latin typeface="Calibri" pitchFamily="34" charset="0"/>
                <a:ea typeface="Calibri" pitchFamily="34" charset="-122"/>
                <a:cs typeface="Calibri" pitchFamily="34" charset="-120"/>
              </a:rPr>
              <a:t>Organizations:  </a:t>
            </a:r>
            <a:r>
              <a:rPr lang="en-US" sz="1150" dirty="0">
                <a:solidFill>
                  <a:srgbClr val="5B6B82"/>
                </a:solidFill>
                <a:latin typeface="Calibri" pitchFamily="34" charset="0"/>
                <a:ea typeface="Calibri" pitchFamily="34" charset="-122"/>
                <a:cs typeface="Calibri" pitchFamily="34" charset="-120"/>
              </a:rPr>
              <a:t>large-scale financial fraud, compromised credentials, and erosion of trust in internal communication.</a:t>
            </a:r>
            <a:endParaRPr lang="en-US" sz="1150" dirty="0"/>
          </a:p>
        </p:txBody>
      </p:sp>
      <p:sp>
        <p:nvSpPr>
          <p:cNvPr id="13" name="Text 10"/>
          <p:cNvSpPr/>
          <p:nvPr/>
        </p:nvSpPr>
        <p:spPr>
          <a:xfrm>
            <a:off x="548640" y="4279392"/>
            <a:ext cx="3657600" cy="274320"/>
          </a:xfrm>
          <a:prstGeom prst="rect">
            <a:avLst/>
          </a:prstGeom>
          <a:noFill/>
          <a:ln/>
        </p:spPr>
        <p:txBody>
          <a:bodyPr wrap="square" rtlCol="0" anchor="ctr"/>
          <a:lstStyle/>
          <a:p>
            <a:pPr marL="0" indent="0">
              <a:buNone/>
            </a:pPr>
            <a:r>
              <a:rPr lang="en-US" sz="1100" b="1" kern="0" spc="150" dirty="0">
                <a:solidFill>
                  <a:srgbClr val="047C71"/>
                </a:solidFill>
                <a:latin typeface="Calibri" pitchFamily="34" charset="0"/>
                <a:ea typeface="Calibri" pitchFamily="34" charset="-122"/>
                <a:cs typeface="Calibri" pitchFamily="34" charset="-120"/>
              </a:rPr>
              <a:t>PREVENTIVE MEASURES</a:t>
            </a:r>
            <a:endParaRPr lang="en-US" sz="1100" dirty="0"/>
          </a:p>
        </p:txBody>
      </p:sp>
      <p:sp>
        <p:nvSpPr>
          <p:cNvPr id="14" name="Shape 11"/>
          <p:cNvSpPr/>
          <p:nvPr/>
        </p:nvSpPr>
        <p:spPr>
          <a:xfrm>
            <a:off x="548640" y="4590288"/>
            <a:ext cx="2039112" cy="1261872"/>
          </a:xfrm>
          <a:prstGeom prst="roundRect">
            <a:avLst>
              <a:gd name="adj" fmla="val 4348"/>
            </a:avLst>
          </a:prstGeom>
          <a:solidFill>
            <a:srgbClr val="0B1F3A"/>
          </a:solidFill>
          <a:ln/>
        </p:spPr>
      </p:sp>
      <p:sp>
        <p:nvSpPr>
          <p:cNvPr id="15" name="Text 12"/>
          <p:cNvSpPr/>
          <p:nvPr/>
        </p:nvSpPr>
        <p:spPr>
          <a:xfrm>
            <a:off x="685800"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Multi-person, out-of-band verification for any high-value transfer request</a:t>
            </a:r>
            <a:endParaRPr lang="en-US" sz="1050" dirty="0"/>
          </a:p>
        </p:txBody>
      </p:sp>
      <p:sp>
        <p:nvSpPr>
          <p:cNvPr id="16" name="Shape 13"/>
          <p:cNvSpPr/>
          <p:nvPr/>
        </p:nvSpPr>
        <p:spPr>
          <a:xfrm>
            <a:off x="2679192" y="4590288"/>
            <a:ext cx="2039112" cy="1261872"/>
          </a:xfrm>
          <a:prstGeom prst="roundRect">
            <a:avLst>
              <a:gd name="adj" fmla="val 4348"/>
            </a:avLst>
          </a:prstGeom>
          <a:solidFill>
            <a:srgbClr val="0B1F3A"/>
          </a:solidFill>
          <a:ln/>
        </p:spPr>
      </p:sp>
      <p:sp>
        <p:nvSpPr>
          <p:cNvPr id="17" name="Text 14"/>
          <p:cNvSpPr/>
          <p:nvPr/>
        </p:nvSpPr>
        <p:spPr>
          <a:xfrm>
            <a:off x="2816352"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Employee training on deepfake and voice-clone red flags, refreshed regularly</a:t>
            </a:r>
            <a:endParaRPr lang="en-US" sz="1050" dirty="0"/>
          </a:p>
        </p:txBody>
      </p:sp>
      <p:sp>
        <p:nvSpPr>
          <p:cNvPr id="18" name="Shape 15"/>
          <p:cNvSpPr/>
          <p:nvPr/>
        </p:nvSpPr>
        <p:spPr>
          <a:xfrm>
            <a:off x="4809744" y="4590288"/>
            <a:ext cx="2039112" cy="1261872"/>
          </a:xfrm>
          <a:prstGeom prst="roundRect">
            <a:avLst>
              <a:gd name="adj" fmla="val 4348"/>
            </a:avLst>
          </a:prstGeom>
          <a:solidFill>
            <a:srgbClr val="0B1F3A"/>
          </a:solidFill>
          <a:ln/>
        </p:spPr>
      </p:sp>
      <p:sp>
        <p:nvSpPr>
          <p:cNvPr id="19" name="Text 16"/>
          <p:cNvSpPr/>
          <p:nvPr/>
        </p:nvSpPr>
        <p:spPr>
          <a:xfrm>
            <a:off x="4946904"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AI-based email and call-screening tools to flag synthetic content</a:t>
            </a:r>
            <a:endParaRPr lang="en-US" sz="1050" dirty="0"/>
          </a:p>
        </p:txBody>
      </p:sp>
      <p:sp>
        <p:nvSpPr>
          <p:cNvPr id="20" name="Shape 17"/>
          <p:cNvSpPr/>
          <p:nvPr/>
        </p:nvSpPr>
        <p:spPr>
          <a:xfrm>
            <a:off x="7086600" y="1691640"/>
            <a:ext cx="4526280" cy="4160520"/>
          </a:xfrm>
          <a:prstGeom prst="roundRect">
            <a:avLst>
              <a:gd name="adj" fmla="val 1978"/>
            </a:avLst>
          </a:prstGeom>
          <a:solidFill>
            <a:srgbClr val="13294B"/>
          </a:solidFill>
          <a:ln/>
        </p:spPr>
      </p:sp>
      <p:sp>
        <p:nvSpPr>
          <p:cNvPr id="21" name="Text 18"/>
          <p:cNvSpPr/>
          <p:nvPr/>
        </p:nvSpPr>
        <p:spPr>
          <a:xfrm>
            <a:off x="7360920" y="1874520"/>
            <a:ext cx="4023360" cy="274320"/>
          </a:xfrm>
          <a:prstGeom prst="rect">
            <a:avLst/>
          </a:prstGeom>
          <a:noFill/>
          <a:ln/>
        </p:spPr>
        <p:txBody>
          <a:bodyPr wrap="square" rtlCol="0" anchor="ctr"/>
          <a:lstStyle/>
          <a:p>
            <a:pPr marL="0" indent="0">
              <a:buNone/>
            </a:pPr>
            <a:r>
              <a:rPr lang="en-US" sz="1050" b="1" kern="0" spc="150" dirty="0">
                <a:solidFill>
                  <a:srgbClr val="00D9C0"/>
                </a:solidFill>
                <a:latin typeface="Calibri" pitchFamily="34" charset="0"/>
                <a:ea typeface="Calibri" pitchFamily="34" charset="-122"/>
                <a:cs typeface="Calibri" pitchFamily="34" charset="-120"/>
              </a:rPr>
              <a:t>REAL-WORLD CASE STUDY</a:t>
            </a:r>
            <a:endParaRPr lang="en-US" sz="1050" dirty="0"/>
          </a:p>
        </p:txBody>
      </p:sp>
      <p:sp>
        <p:nvSpPr>
          <p:cNvPr id="22" name="Text 19"/>
          <p:cNvSpPr/>
          <p:nvPr/>
        </p:nvSpPr>
        <p:spPr>
          <a:xfrm>
            <a:off x="7360920" y="2176272"/>
            <a:ext cx="4023360" cy="594360"/>
          </a:xfrm>
          <a:prstGeom prst="rect">
            <a:avLst/>
          </a:prstGeom>
          <a:noFill/>
          <a:ln/>
        </p:spPr>
        <p:txBody>
          <a:bodyPr wrap="square" rtlCol="0" anchor="ctr"/>
          <a:lstStyle/>
          <a:p>
            <a:pPr marL="0" indent="0">
              <a:lnSpc>
                <a:spcPts val="2100"/>
              </a:lnSpc>
              <a:buNone/>
            </a:pPr>
            <a:r>
              <a:rPr lang="en-US" sz="1800" b="1" dirty="0">
                <a:solidFill>
                  <a:srgbClr val="FFFFFF"/>
                </a:solidFill>
                <a:latin typeface="Cambria" pitchFamily="34" charset="0"/>
                <a:ea typeface="Cambria" pitchFamily="34" charset="-122"/>
                <a:cs typeface="Cambria" pitchFamily="34" charset="-120"/>
              </a:rPr>
              <a:t>The Arup Deepfake Video-Call Fraud</a:t>
            </a:r>
            <a:endParaRPr lang="en-US" sz="1800" dirty="0"/>
          </a:p>
        </p:txBody>
      </p:sp>
      <p:sp>
        <p:nvSpPr>
          <p:cNvPr id="23" name="Text 20"/>
          <p:cNvSpPr/>
          <p:nvPr/>
        </p:nvSpPr>
        <p:spPr>
          <a:xfrm>
            <a:off x="7360920" y="2724912"/>
            <a:ext cx="4023360" cy="274320"/>
          </a:xfrm>
          <a:prstGeom prst="rect">
            <a:avLst/>
          </a:prstGeom>
          <a:noFill/>
          <a:ln/>
        </p:spPr>
        <p:txBody>
          <a:bodyPr wrap="square" rtlCol="0" anchor="ctr"/>
          <a:lstStyle/>
          <a:p>
            <a:pPr marL="0" indent="0">
              <a:buNone/>
            </a:pPr>
            <a:r>
              <a:rPr lang="en-US" sz="1100" dirty="0">
                <a:solidFill>
                  <a:srgbClr val="AFC2D9"/>
                </a:solidFill>
                <a:latin typeface="Calibri" pitchFamily="34" charset="0"/>
                <a:ea typeface="Calibri" pitchFamily="34" charset="-122"/>
                <a:cs typeface="Calibri" pitchFamily="34" charset="-120"/>
              </a:rPr>
              <a:t>Hong Kong · January 2024</a:t>
            </a:r>
            <a:endParaRPr lang="en-US" sz="1100" dirty="0"/>
          </a:p>
        </p:txBody>
      </p:sp>
      <p:sp>
        <p:nvSpPr>
          <p:cNvPr id="24" name="Shape 21"/>
          <p:cNvSpPr/>
          <p:nvPr/>
        </p:nvSpPr>
        <p:spPr>
          <a:xfrm>
            <a:off x="7360920" y="3090672"/>
            <a:ext cx="3977640" cy="0"/>
          </a:xfrm>
          <a:prstGeom prst="line">
            <a:avLst/>
          </a:prstGeom>
          <a:noFill/>
          <a:ln w="12700">
            <a:solidFill>
              <a:srgbClr val="1C3660"/>
            </a:solidFill>
            <a:prstDash val="solid"/>
          </a:ln>
        </p:spPr>
      </p:sp>
      <p:sp>
        <p:nvSpPr>
          <p:cNvPr id="25" name="Text 22"/>
          <p:cNvSpPr/>
          <p:nvPr/>
        </p:nvSpPr>
        <p:spPr>
          <a:xfrm>
            <a:off x="7360920" y="3246120"/>
            <a:ext cx="4023360" cy="1463040"/>
          </a:xfrm>
          <a:prstGeom prst="rect">
            <a:avLst/>
          </a:prstGeom>
          <a:noFill/>
          <a:ln/>
        </p:spPr>
        <p:txBody>
          <a:bodyPr wrap="square" rtlCol="0" anchor="ctr"/>
          <a:lstStyle/>
          <a:p>
            <a:pPr marL="0" indent="0">
              <a:lnSpc>
                <a:spcPts val="1550"/>
              </a:lnSpc>
              <a:buNone/>
            </a:pPr>
            <a:r>
              <a:rPr lang="en-US" sz="1150" dirty="0">
                <a:solidFill>
                  <a:srgbClr val="AFC2D9"/>
                </a:solidFill>
                <a:latin typeface="Calibri" pitchFamily="34" charset="0"/>
                <a:ea typeface="Calibri" pitchFamily="34" charset="-122"/>
                <a:cs typeface="Calibri" pitchFamily="34" charset="-120"/>
              </a:rPr>
              <a:t>A finance employee at engineering firm Arup joined a video call where every participant — including the CFO — was an AI-generated deepfake. Believing the meeting was genuine, he authorized multiple transfers to the attackers' accounts.</a:t>
            </a:r>
            <a:endParaRPr lang="en-US" sz="1150" dirty="0"/>
          </a:p>
        </p:txBody>
      </p:sp>
      <p:sp>
        <p:nvSpPr>
          <p:cNvPr id="26" name="Shape 23"/>
          <p:cNvSpPr/>
          <p:nvPr/>
        </p:nvSpPr>
        <p:spPr>
          <a:xfrm>
            <a:off x="7360920" y="4754880"/>
            <a:ext cx="3977640" cy="960120"/>
          </a:xfrm>
          <a:prstGeom prst="roundRect">
            <a:avLst>
              <a:gd name="adj" fmla="val 5714"/>
            </a:avLst>
          </a:prstGeom>
          <a:solidFill>
            <a:srgbClr val="1C3660"/>
          </a:solidFill>
          <a:ln/>
        </p:spPr>
      </p:sp>
      <p:sp>
        <p:nvSpPr>
          <p:cNvPr id="27" name="Text 24"/>
          <p:cNvSpPr/>
          <p:nvPr/>
        </p:nvSpPr>
        <p:spPr>
          <a:xfrm>
            <a:off x="7543800" y="4846320"/>
            <a:ext cx="3611880" cy="411480"/>
          </a:xfrm>
          <a:prstGeom prst="rect">
            <a:avLst/>
          </a:prstGeom>
          <a:noFill/>
          <a:ln/>
        </p:spPr>
        <p:txBody>
          <a:bodyPr wrap="square" rtlCol="0" anchor="ctr"/>
          <a:lstStyle/>
          <a:p>
            <a:pPr marL="0" indent="0">
              <a:buNone/>
            </a:pPr>
            <a:r>
              <a:rPr lang="en-US" sz="2000" b="1" dirty="0">
                <a:solidFill>
                  <a:srgbClr val="00D9C0"/>
                </a:solidFill>
                <a:latin typeface="Cambria" pitchFamily="34" charset="0"/>
                <a:ea typeface="Cambria" pitchFamily="34" charset="-122"/>
                <a:cs typeface="Cambria" pitchFamily="34" charset="-120"/>
              </a:rPr>
              <a:t>$25.6M</a:t>
            </a:r>
            <a:endParaRPr lang="en-US" sz="2000" dirty="0"/>
          </a:p>
        </p:txBody>
      </p:sp>
      <p:sp>
        <p:nvSpPr>
          <p:cNvPr id="28" name="Text 25"/>
          <p:cNvSpPr/>
          <p:nvPr/>
        </p:nvSpPr>
        <p:spPr>
          <a:xfrm>
            <a:off x="7543800" y="5257800"/>
            <a:ext cx="3611880" cy="384048"/>
          </a:xfrm>
          <a:prstGeom prst="rect">
            <a:avLst/>
          </a:prstGeom>
          <a:noFill/>
          <a:ln/>
        </p:spPr>
        <p:txBody>
          <a:bodyPr wrap="square" rtlCol="0" anchor="ctr"/>
          <a:lstStyle/>
          <a:p>
            <a:pPr marL="0" indent="0">
              <a:lnSpc>
                <a:spcPts val="1200"/>
              </a:lnSpc>
              <a:buNone/>
            </a:pPr>
            <a:r>
              <a:rPr lang="en-US" sz="950" dirty="0">
                <a:solidFill>
                  <a:srgbClr val="AFC2D9"/>
                </a:solidFill>
                <a:latin typeface="Calibri" pitchFamily="34" charset="0"/>
                <a:ea typeface="Calibri" pitchFamily="34" charset="-122"/>
                <a:cs typeface="Calibri" pitchFamily="34" charset="-120"/>
              </a:rPr>
              <a:t>transferred across 15 transactions before the fraud was discovered</a:t>
            </a:r>
            <a:endParaRPr lang="en-US" sz="950" dirty="0"/>
          </a:p>
        </p:txBody>
      </p:sp>
      <p:sp>
        <p:nvSpPr>
          <p:cNvPr id="29" name="Text 26"/>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47C71"/>
                </a:solidFill>
                <a:latin typeface="Calibri" pitchFamily="34" charset="0"/>
                <a:ea typeface="Calibri" pitchFamily="34" charset="-122"/>
                <a:cs typeface="Calibri" pitchFamily="34" charset="-120"/>
              </a:rPr>
              <a:t>02 · THREAT 2 OF 5</a:t>
            </a:r>
            <a:endParaRPr lang="en-US" sz="1200" dirty="0"/>
          </a:p>
        </p:txBody>
      </p:sp>
      <p:sp>
        <p:nvSpPr>
          <p:cNvPr id="3" name="Text 1"/>
          <p:cNvSpPr/>
          <p:nvPr/>
        </p:nvSpPr>
        <p:spPr>
          <a:xfrm>
            <a:off x="9692640" y="384048"/>
            <a:ext cx="1920240" cy="292608"/>
          </a:xfrm>
          <a:prstGeom prst="rect">
            <a:avLst/>
          </a:prstGeom>
          <a:solidFill>
            <a:srgbClr val="C0392B"/>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EXTORTION</a:t>
            </a:r>
            <a:endParaRPr lang="en-US" sz="1100" dirty="0"/>
          </a:p>
        </p:txBody>
      </p:sp>
      <p:sp>
        <p:nvSpPr>
          <p:cNvPr id="4" name="Shape 2"/>
          <p:cNvSpPr/>
          <p:nvPr/>
        </p:nvSpPr>
        <p:spPr>
          <a:xfrm>
            <a:off x="548640" y="713232"/>
            <a:ext cx="594360" cy="594360"/>
          </a:xfrm>
          <a:prstGeom prst="ellipse">
            <a:avLst/>
          </a:prstGeom>
          <a:solidFill>
            <a:srgbClr val="0B1F3A"/>
          </a:solidFill>
          <a:ln/>
        </p:spPr>
      </p:sp>
      <p:pic>
        <p:nvPicPr>
          <p:cNvPr id="5" name="Image 0" descr="/home/claude/deck/icon_lock.png"/>
          <p:cNvPicPr>
            <a:picLocks noChangeAspect="1"/>
          </p:cNvPicPr>
          <p:nvPr/>
        </p:nvPicPr>
        <p:blipFill>
          <a:blip r:embed="rId3"/>
          <a:stretch>
            <a:fillRect/>
          </a:stretch>
        </p:blipFill>
        <p:spPr>
          <a:xfrm>
            <a:off x="685800" y="850392"/>
            <a:ext cx="320040" cy="320040"/>
          </a:xfrm>
          <a:prstGeom prst="rect">
            <a:avLst/>
          </a:prstGeom>
        </p:spPr>
      </p:pic>
      <p:sp>
        <p:nvSpPr>
          <p:cNvPr id="6" name="Text 3"/>
          <p:cNvSpPr/>
          <p:nvPr/>
        </p:nvSpPr>
        <p:spPr>
          <a:xfrm>
            <a:off x="1280160" y="658368"/>
            <a:ext cx="7772400" cy="457200"/>
          </a:xfrm>
          <a:prstGeom prst="rect">
            <a:avLst/>
          </a:prstGeom>
          <a:noFill/>
          <a:ln/>
        </p:spPr>
        <p:txBody>
          <a:bodyPr wrap="square" rtlCol="0" anchor="ctr"/>
          <a:lstStyle/>
          <a:p>
            <a:pPr marL="0" indent="0">
              <a:buNone/>
            </a:pPr>
            <a:r>
              <a:rPr lang="en-US" sz="2500" b="1" dirty="0">
                <a:solidFill>
                  <a:srgbClr val="16233A"/>
                </a:solidFill>
                <a:latin typeface="Cambria" pitchFamily="34" charset="0"/>
                <a:ea typeface="Cambria" pitchFamily="34" charset="-122"/>
                <a:cs typeface="Cambria" pitchFamily="34" charset="-120"/>
              </a:rPr>
              <a:t>Ransomware-as-a-Service (RaaS)</a:t>
            </a:r>
            <a:endParaRPr lang="en-US" sz="2500" dirty="0"/>
          </a:p>
        </p:txBody>
      </p:sp>
      <p:sp>
        <p:nvSpPr>
          <p:cNvPr id="7" name="Text 4"/>
          <p:cNvSpPr/>
          <p:nvPr/>
        </p:nvSpPr>
        <p:spPr>
          <a:xfrm>
            <a:off x="1280160" y="1097280"/>
            <a:ext cx="9509760" cy="365760"/>
          </a:xfrm>
          <a:prstGeom prst="rect">
            <a:avLst/>
          </a:prstGeom>
          <a:noFill/>
          <a:ln/>
        </p:spPr>
        <p:txBody>
          <a:bodyPr wrap="square" rtlCol="0" anchor="ctr"/>
          <a:lstStyle/>
          <a:p>
            <a:pPr marL="0" indent="0">
              <a:buNone/>
            </a:pPr>
            <a:r>
              <a:rPr lang="en-US" sz="1250" i="1" dirty="0">
                <a:solidFill>
                  <a:srgbClr val="5B6B82"/>
                </a:solidFill>
                <a:latin typeface="Calibri" pitchFamily="34" charset="0"/>
                <a:ea typeface="Calibri" pitchFamily="34" charset="-122"/>
                <a:cs typeface="Calibri" pitchFamily="34" charset="-120"/>
              </a:rPr>
              <a:t>Ransomware kits are now rented like software — lowering the skill bar for large-scale attacks.</a:t>
            </a:r>
            <a:endParaRPr lang="en-US" sz="1250" dirty="0"/>
          </a:p>
        </p:txBody>
      </p:sp>
      <p:sp>
        <p:nvSpPr>
          <p:cNvPr id="8" name="Text 5"/>
          <p:cNvSpPr/>
          <p:nvPr/>
        </p:nvSpPr>
        <p:spPr>
          <a:xfrm>
            <a:off x="548640" y="1691640"/>
            <a:ext cx="6309360" cy="1188720"/>
          </a:xfrm>
          <a:prstGeom prst="rect">
            <a:avLst/>
          </a:prstGeom>
          <a:noFill/>
          <a:ln/>
        </p:spPr>
        <p:txBody>
          <a:bodyPr wrap="square" rtlCol="0" anchor="ctr"/>
          <a:lstStyle/>
          <a:p>
            <a:pPr marL="0" indent="0">
              <a:lnSpc>
                <a:spcPts val="1700"/>
              </a:lnSpc>
              <a:buNone/>
            </a:pPr>
            <a:r>
              <a:rPr lang="en-US" sz="1250" dirty="0">
                <a:solidFill>
                  <a:srgbClr val="16233A"/>
                </a:solidFill>
                <a:latin typeface="Calibri" pitchFamily="34" charset="0"/>
                <a:ea typeface="Calibri" pitchFamily="34" charset="-122"/>
                <a:cs typeface="Calibri" pitchFamily="34" charset="-120"/>
              </a:rPr>
              <a:t>RaaS platforms let affiliates with little technical skill rent ready-made ransomware and infrastructure from developer groups, splitting the ransom. This has industrialized ransomware, turning it into an organized criminal supply chain.</a:t>
            </a:r>
            <a:endParaRPr lang="en-US" sz="1250" dirty="0"/>
          </a:p>
        </p:txBody>
      </p:sp>
      <p:sp>
        <p:nvSpPr>
          <p:cNvPr id="9" name="Text 6"/>
          <p:cNvSpPr/>
          <p:nvPr/>
        </p:nvSpPr>
        <p:spPr>
          <a:xfrm>
            <a:off x="548640" y="2926080"/>
            <a:ext cx="2743200" cy="274320"/>
          </a:xfrm>
          <a:prstGeom prst="rect">
            <a:avLst/>
          </a:prstGeom>
          <a:noFill/>
          <a:ln/>
        </p:spPr>
        <p:txBody>
          <a:bodyPr wrap="square" rtlCol="0" anchor="ctr"/>
          <a:lstStyle/>
          <a:p>
            <a:pPr marL="0" indent="0">
              <a:buNone/>
            </a:pPr>
            <a:r>
              <a:rPr lang="en-US" sz="1100" b="1" kern="0" spc="150" dirty="0">
                <a:solidFill>
                  <a:srgbClr val="047C71"/>
                </a:solidFill>
                <a:latin typeface="Calibri" pitchFamily="34" charset="0"/>
                <a:ea typeface="Calibri" pitchFamily="34" charset="-122"/>
                <a:cs typeface="Calibri" pitchFamily="34" charset="-120"/>
              </a:rPr>
              <a:t>IMPACT</a:t>
            </a:r>
            <a:endParaRPr lang="en-US" sz="1100" dirty="0"/>
          </a:p>
        </p:txBody>
      </p:sp>
      <p:sp>
        <p:nvSpPr>
          <p:cNvPr id="10" name="Shape 7"/>
          <p:cNvSpPr/>
          <p:nvPr/>
        </p:nvSpPr>
        <p:spPr>
          <a:xfrm>
            <a:off x="548640" y="3246120"/>
            <a:ext cx="6309360" cy="868680"/>
          </a:xfrm>
          <a:prstGeom prst="roundRect">
            <a:avLst>
              <a:gd name="adj" fmla="val 6316"/>
            </a:avLst>
          </a:prstGeom>
          <a:solidFill>
            <a:srgbClr val="F3F6FA"/>
          </a:solidFill>
          <a:ln/>
        </p:spPr>
      </p:sp>
      <p:sp>
        <p:nvSpPr>
          <p:cNvPr id="11" name="Text 8"/>
          <p:cNvSpPr/>
          <p:nvPr/>
        </p:nvSpPr>
        <p:spPr>
          <a:xfrm>
            <a:off x="749808" y="3346704"/>
            <a:ext cx="5897880" cy="411480"/>
          </a:xfrm>
          <a:prstGeom prst="rect">
            <a:avLst/>
          </a:prstGeom>
          <a:noFill/>
          <a:ln/>
        </p:spPr>
        <p:txBody>
          <a:bodyPr wrap="square" rtlCol="0" anchor="ctr"/>
          <a:lstStyle/>
          <a:p>
            <a:pPr marL="0" indent="0">
              <a:lnSpc>
                <a:spcPts val="1400"/>
              </a:lnSpc>
              <a:buNone/>
            </a:pPr>
            <a:r>
              <a:rPr lang="en-US" sz="1150" b="1" dirty="0">
                <a:solidFill>
                  <a:srgbClr val="16233A"/>
                </a:solidFill>
                <a:latin typeface="Calibri" pitchFamily="34" charset="0"/>
                <a:ea typeface="Calibri" pitchFamily="34" charset="-122"/>
                <a:cs typeface="Calibri" pitchFamily="34" charset="-120"/>
              </a:rPr>
              <a:t>Individuals:  </a:t>
            </a:r>
            <a:r>
              <a:rPr lang="en-US" sz="1150" dirty="0">
                <a:solidFill>
                  <a:srgbClr val="5B6B82"/>
                </a:solidFill>
                <a:latin typeface="Calibri" pitchFamily="34" charset="0"/>
                <a:ea typeface="Calibri" pitchFamily="34" charset="-122"/>
                <a:cs typeface="Calibri" pitchFamily="34" charset="-120"/>
              </a:rPr>
              <a:t>exposure of personal medical, financial, or identity records collected by breached organizations.</a:t>
            </a:r>
            <a:endParaRPr lang="en-US" sz="1150" dirty="0"/>
          </a:p>
        </p:txBody>
      </p:sp>
      <p:sp>
        <p:nvSpPr>
          <p:cNvPr id="12" name="Text 9"/>
          <p:cNvSpPr/>
          <p:nvPr/>
        </p:nvSpPr>
        <p:spPr>
          <a:xfrm>
            <a:off x="749808" y="3730752"/>
            <a:ext cx="5897880" cy="411480"/>
          </a:xfrm>
          <a:prstGeom prst="rect">
            <a:avLst/>
          </a:prstGeom>
          <a:noFill/>
          <a:ln/>
        </p:spPr>
        <p:txBody>
          <a:bodyPr wrap="square" rtlCol="0" anchor="ctr"/>
          <a:lstStyle/>
          <a:p>
            <a:pPr marL="0" indent="0">
              <a:lnSpc>
                <a:spcPts val="1400"/>
              </a:lnSpc>
              <a:buNone/>
            </a:pPr>
            <a:r>
              <a:rPr lang="en-US" sz="1150" b="1" dirty="0">
                <a:solidFill>
                  <a:srgbClr val="16233A"/>
                </a:solidFill>
                <a:latin typeface="Calibri" pitchFamily="34" charset="0"/>
                <a:ea typeface="Calibri" pitchFamily="34" charset="-122"/>
                <a:cs typeface="Calibri" pitchFamily="34" charset="-120"/>
              </a:rPr>
              <a:t>Organizations:  </a:t>
            </a:r>
            <a:r>
              <a:rPr lang="en-US" sz="1150" dirty="0">
                <a:solidFill>
                  <a:srgbClr val="5B6B82"/>
                </a:solidFill>
                <a:latin typeface="Calibri" pitchFamily="34" charset="0"/>
                <a:ea typeface="Calibri" pitchFamily="34" charset="-122"/>
                <a:cs typeface="Calibri" pitchFamily="34" charset="-120"/>
              </a:rPr>
              <a:t>operational shutdown, multimillion-dollar ransom and recovery costs, and regulatory penalties.</a:t>
            </a:r>
            <a:endParaRPr lang="en-US" sz="1150" dirty="0"/>
          </a:p>
        </p:txBody>
      </p:sp>
      <p:sp>
        <p:nvSpPr>
          <p:cNvPr id="13" name="Text 10"/>
          <p:cNvSpPr/>
          <p:nvPr/>
        </p:nvSpPr>
        <p:spPr>
          <a:xfrm>
            <a:off x="548640" y="4279392"/>
            <a:ext cx="3657600" cy="274320"/>
          </a:xfrm>
          <a:prstGeom prst="rect">
            <a:avLst/>
          </a:prstGeom>
          <a:noFill/>
          <a:ln/>
        </p:spPr>
        <p:txBody>
          <a:bodyPr wrap="square" rtlCol="0" anchor="ctr"/>
          <a:lstStyle/>
          <a:p>
            <a:pPr marL="0" indent="0">
              <a:buNone/>
            </a:pPr>
            <a:r>
              <a:rPr lang="en-US" sz="1100" b="1" kern="0" spc="150" dirty="0">
                <a:solidFill>
                  <a:srgbClr val="047C71"/>
                </a:solidFill>
                <a:latin typeface="Calibri" pitchFamily="34" charset="0"/>
                <a:ea typeface="Calibri" pitchFamily="34" charset="-122"/>
                <a:cs typeface="Calibri" pitchFamily="34" charset="-120"/>
              </a:rPr>
              <a:t>PREVENTIVE MEASURES</a:t>
            </a:r>
            <a:endParaRPr lang="en-US" sz="1100" dirty="0"/>
          </a:p>
        </p:txBody>
      </p:sp>
      <p:sp>
        <p:nvSpPr>
          <p:cNvPr id="14" name="Shape 11"/>
          <p:cNvSpPr/>
          <p:nvPr/>
        </p:nvSpPr>
        <p:spPr>
          <a:xfrm>
            <a:off x="548640" y="4590288"/>
            <a:ext cx="2039112" cy="1261872"/>
          </a:xfrm>
          <a:prstGeom prst="roundRect">
            <a:avLst>
              <a:gd name="adj" fmla="val 4348"/>
            </a:avLst>
          </a:prstGeom>
          <a:solidFill>
            <a:srgbClr val="0B1F3A"/>
          </a:solidFill>
          <a:ln/>
        </p:spPr>
      </p:sp>
      <p:sp>
        <p:nvSpPr>
          <p:cNvPr id="15" name="Text 12"/>
          <p:cNvSpPr/>
          <p:nvPr/>
        </p:nvSpPr>
        <p:spPr>
          <a:xfrm>
            <a:off x="685800"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Enforce multi-factor authentication on every remote-access and admin point</a:t>
            </a:r>
            <a:endParaRPr lang="en-US" sz="1050" dirty="0"/>
          </a:p>
        </p:txBody>
      </p:sp>
      <p:sp>
        <p:nvSpPr>
          <p:cNvPr id="16" name="Shape 13"/>
          <p:cNvSpPr/>
          <p:nvPr/>
        </p:nvSpPr>
        <p:spPr>
          <a:xfrm>
            <a:off x="2679192" y="4590288"/>
            <a:ext cx="2039112" cy="1261872"/>
          </a:xfrm>
          <a:prstGeom prst="roundRect">
            <a:avLst>
              <a:gd name="adj" fmla="val 4348"/>
            </a:avLst>
          </a:prstGeom>
          <a:solidFill>
            <a:srgbClr val="0B1F3A"/>
          </a:solidFill>
          <a:ln/>
        </p:spPr>
      </p:sp>
      <p:sp>
        <p:nvSpPr>
          <p:cNvPr id="17" name="Text 14"/>
          <p:cNvSpPr/>
          <p:nvPr/>
        </p:nvSpPr>
        <p:spPr>
          <a:xfrm>
            <a:off x="2816352"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Maintain offline, tested backups and a documented incident-response plan</a:t>
            </a:r>
            <a:endParaRPr lang="en-US" sz="1050" dirty="0"/>
          </a:p>
        </p:txBody>
      </p:sp>
      <p:sp>
        <p:nvSpPr>
          <p:cNvPr id="18" name="Shape 15"/>
          <p:cNvSpPr/>
          <p:nvPr/>
        </p:nvSpPr>
        <p:spPr>
          <a:xfrm>
            <a:off x="4809744" y="4590288"/>
            <a:ext cx="2039112" cy="1261872"/>
          </a:xfrm>
          <a:prstGeom prst="roundRect">
            <a:avLst>
              <a:gd name="adj" fmla="val 4348"/>
            </a:avLst>
          </a:prstGeom>
          <a:solidFill>
            <a:srgbClr val="0B1F3A"/>
          </a:solidFill>
          <a:ln/>
        </p:spPr>
      </p:sp>
      <p:sp>
        <p:nvSpPr>
          <p:cNvPr id="19" name="Text 16"/>
          <p:cNvSpPr/>
          <p:nvPr/>
        </p:nvSpPr>
        <p:spPr>
          <a:xfrm>
            <a:off x="4946904"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Network segmentation to contain lateral movement after initial access</a:t>
            </a:r>
            <a:endParaRPr lang="en-US" sz="1050" dirty="0"/>
          </a:p>
        </p:txBody>
      </p:sp>
      <p:sp>
        <p:nvSpPr>
          <p:cNvPr id="20" name="Shape 17"/>
          <p:cNvSpPr/>
          <p:nvPr/>
        </p:nvSpPr>
        <p:spPr>
          <a:xfrm>
            <a:off x="7086600" y="1691640"/>
            <a:ext cx="4526280" cy="4160520"/>
          </a:xfrm>
          <a:prstGeom prst="roundRect">
            <a:avLst>
              <a:gd name="adj" fmla="val 1978"/>
            </a:avLst>
          </a:prstGeom>
          <a:solidFill>
            <a:srgbClr val="13294B"/>
          </a:solidFill>
          <a:ln/>
        </p:spPr>
      </p:sp>
      <p:sp>
        <p:nvSpPr>
          <p:cNvPr id="21" name="Text 18"/>
          <p:cNvSpPr/>
          <p:nvPr/>
        </p:nvSpPr>
        <p:spPr>
          <a:xfrm>
            <a:off x="7360920" y="1874520"/>
            <a:ext cx="4023360" cy="274320"/>
          </a:xfrm>
          <a:prstGeom prst="rect">
            <a:avLst/>
          </a:prstGeom>
          <a:noFill/>
          <a:ln/>
        </p:spPr>
        <p:txBody>
          <a:bodyPr wrap="square" rtlCol="0" anchor="ctr"/>
          <a:lstStyle/>
          <a:p>
            <a:pPr marL="0" indent="0">
              <a:buNone/>
            </a:pPr>
            <a:r>
              <a:rPr lang="en-US" sz="1050" b="1" kern="0" spc="150" dirty="0">
                <a:solidFill>
                  <a:srgbClr val="00D9C0"/>
                </a:solidFill>
                <a:latin typeface="Calibri" pitchFamily="34" charset="0"/>
                <a:ea typeface="Calibri" pitchFamily="34" charset="-122"/>
                <a:cs typeface="Calibri" pitchFamily="34" charset="-120"/>
              </a:rPr>
              <a:t>REAL-WORLD CASE STUDY</a:t>
            </a:r>
            <a:endParaRPr lang="en-US" sz="1050" dirty="0"/>
          </a:p>
        </p:txBody>
      </p:sp>
      <p:sp>
        <p:nvSpPr>
          <p:cNvPr id="22" name="Text 19"/>
          <p:cNvSpPr/>
          <p:nvPr/>
        </p:nvSpPr>
        <p:spPr>
          <a:xfrm>
            <a:off x="7360920" y="2176272"/>
            <a:ext cx="4023360" cy="594360"/>
          </a:xfrm>
          <a:prstGeom prst="rect">
            <a:avLst/>
          </a:prstGeom>
          <a:noFill/>
          <a:ln/>
        </p:spPr>
        <p:txBody>
          <a:bodyPr wrap="square" rtlCol="0" anchor="ctr"/>
          <a:lstStyle/>
          <a:p>
            <a:pPr marL="0" indent="0">
              <a:lnSpc>
                <a:spcPts val="2100"/>
              </a:lnSpc>
              <a:buNone/>
            </a:pPr>
            <a:r>
              <a:rPr lang="en-US" sz="1800" b="1" dirty="0">
                <a:solidFill>
                  <a:srgbClr val="FFFFFF"/>
                </a:solidFill>
                <a:latin typeface="Cambria" pitchFamily="34" charset="0"/>
                <a:ea typeface="Cambria" pitchFamily="34" charset="-122"/>
                <a:cs typeface="Cambria" pitchFamily="34" charset="-120"/>
              </a:rPr>
              <a:t>The Change Healthcare Attack</a:t>
            </a:r>
            <a:endParaRPr lang="en-US" sz="1800" dirty="0"/>
          </a:p>
        </p:txBody>
      </p:sp>
      <p:sp>
        <p:nvSpPr>
          <p:cNvPr id="23" name="Text 20"/>
          <p:cNvSpPr/>
          <p:nvPr/>
        </p:nvSpPr>
        <p:spPr>
          <a:xfrm>
            <a:off x="7360920" y="2724912"/>
            <a:ext cx="4023360" cy="274320"/>
          </a:xfrm>
          <a:prstGeom prst="rect">
            <a:avLst/>
          </a:prstGeom>
          <a:noFill/>
          <a:ln/>
        </p:spPr>
        <p:txBody>
          <a:bodyPr wrap="square" rtlCol="0" anchor="ctr"/>
          <a:lstStyle/>
          <a:p>
            <a:pPr marL="0" indent="0">
              <a:buNone/>
            </a:pPr>
            <a:r>
              <a:rPr lang="en-US" sz="1100" dirty="0">
                <a:solidFill>
                  <a:srgbClr val="AFC2D9"/>
                </a:solidFill>
                <a:latin typeface="Calibri" pitchFamily="34" charset="0"/>
                <a:ea typeface="Calibri" pitchFamily="34" charset="-122"/>
                <a:cs typeface="Calibri" pitchFamily="34" charset="-120"/>
              </a:rPr>
              <a:t>United States · February 2024</a:t>
            </a:r>
            <a:endParaRPr lang="en-US" sz="1100" dirty="0"/>
          </a:p>
        </p:txBody>
      </p:sp>
      <p:sp>
        <p:nvSpPr>
          <p:cNvPr id="24" name="Shape 21"/>
          <p:cNvSpPr/>
          <p:nvPr/>
        </p:nvSpPr>
        <p:spPr>
          <a:xfrm>
            <a:off x="7360920" y="3090672"/>
            <a:ext cx="3977640" cy="0"/>
          </a:xfrm>
          <a:prstGeom prst="line">
            <a:avLst/>
          </a:prstGeom>
          <a:noFill/>
          <a:ln w="12700">
            <a:solidFill>
              <a:srgbClr val="1C3660"/>
            </a:solidFill>
            <a:prstDash val="solid"/>
          </a:ln>
        </p:spPr>
      </p:sp>
      <p:sp>
        <p:nvSpPr>
          <p:cNvPr id="25" name="Text 22"/>
          <p:cNvSpPr/>
          <p:nvPr/>
        </p:nvSpPr>
        <p:spPr>
          <a:xfrm>
            <a:off x="7360920" y="3246120"/>
            <a:ext cx="4023360" cy="1463040"/>
          </a:xfrm>
          <a:prstGeom prst="rect">
            <a:avLst/>
          </a:prstGeom>
          <a:noFill/>
          <a:ln/>
        </p:spPr>
        <p:txBody>
          <a:bodyPr wrap="square" rtlCol="0" anchor="ctr"/>
          <a:lstStyle/>
          <a:p>
            <a:pPr marL="0" indent="0">
              <a:lnSpc>
                <a:spcPts val="1550"/>
              </a:lnSpc>
              <a:buNone/>
            </a:pPr>
            <a:r>
              <a:rPr lang="en-US" sz="1150" dirty="0">
                <a:solidFill>
                  <a:srgbClr val="AFC2D9"/>
                </a:solidFill>
                <a:latin typeface="Calibri" pitchFamily="34" charset="0"/>
                <a:ea typeface="Calibri" pitchFamily="34" charset="-122"/>
                <a:cs typeface="Calibri" pitchFamily="34" charset="-120"/>
              </a:rPr>
              <a:t>The ALPHV/BlackCat RaaS group used stolen credentials to breach a remote-access portal that lacked MFA, then exfiltrated data and encrypted systems processing roughly half of all U.S. medical claims, disrupting care nationwide.</a:t>
            </a:r>
            <a:endParaRPr lang="en-US" sz="1150" dirty="0"/>
          </a:p>
        </p:txBody>
      </p:sp>
      <p:sp>
        <p:nvSpPr>
          <p:cNvPr id="26" name="Shape 23"/>
          <p:cNvSpPr/>
          <p:nvPr/>
        </p:nvSpPr>
        <p:spPr>
          <a:xfrm>
            <a:off x="7360920" y="4754880"/>
            <a:ext cx="3977640" cy="960120"/>
          </a:xfrm>
          <a:prstGeom prst="roundRect">
            <a:avLst>
              <a:gd name="adj" fmla="val 5714"/>
            </a:avLst>
          </a:prstGeom>
          <a:solidFill>
            <a:srgbClr val="1C3660"/>
          </a:solidFill>
          <a:ln/>
        </p:spPr>
      </p:sp>
      <p:sp>
        <p:nvSpPr>
          <p:cNvPr id="27" name="Text 24"/>
          <p:cNvSpPr/>
          <p:nvPr/>
        </p:nvSpPr>
        <p:spPr>
          <a:xfrm>
            <a:off x="7543800" y="4846320"/>
            <a:ext cx="3611880" cy="411480"/>
          </a:xfrm>
          <a:prstGeom prst="rect">
            <a:avLst/>
          </a:prstGeom>
          <a:noFill/>
          <a:ln/>
        </p:spPr>
        <p:txBody>
          <a:bodyPr wrap="square" rtlCol="0" anchor="ctr"/>
          <a:lstStyle/>
          <a:p>
            <a:pPr marL="0" indent="0">
              <a:buNone/>
            </a:pPr>
            <a:r>
              <a:rPr lang="en-US" sz="2000" b="1" dirty="0">
                <a:solidFill>
                  <a:srgbClr val="00D9C0"/>
                </a:solidFill>
                <a:latin typeface="Cambria" pitchFamily="34" charset="0"/>
                <a:ea typeface="Cambria" pitchFamily="34" charset="-122"/>
                <a:cs typeface="Cambria" pitchFamily="34" charset="-120"/>
              </a:rPr>
              <a:t>$22M+</a:t>
            </a:r>
            <a:endParaRPr lang="en-US" sz="2000" dirty="0"/>
          </a:p>
        </p:txBody>
      </p:sp>
      <p:sp>
        <p:nvSpPr>
          <p:cNvPr id="28" name="Text 25"/>
          <p:cNvSpPr/>
          <p:nvPr/>
        </p:nvSpPr>
        <p:spPr>
          <a:xfrm>
            <a:off x="7543800" y="5257800"/>
            <a:ext cx="3611880" cy="384048"/>
          </a:xfrm>
          <a:prstGeom prst="rect">
            <a:avLst/>
          </a:prstGeom>
          <a:noFill/>
          <a:ln/>
        </p:spPr>
        <p:txBody>
          <a:bodyPr wrap="square" rtlCol="0" anchor="ctr"/>
          <a:lstStyle/>
          <a:p>
            <a:pPr marL="0" indent="0">
              <a:lnSpc>
                <a:spcPts val="1200"/>
              </a:lnSpc>
              <a:buNone/>
            </a:pPr>
            <a:r>
              <a:rPr lang="en-US" sz="950" dirty="0">
                <a:solidFill>
                  <a:srgbClr val="AFC2D9"/>
                </a:solidFill>
                <a:latin typeface="Calibri" pitchFamily="34" charset="0"/>
                <a:ea typeface="Calibri" pitchFamily="34" charset="-122"/>
                <a:cs typeface="Calibri" pitchFamily="34" charset="-120"/>
              </a:rPr>
              <a:t>ransom paid, with total company impact estimated above $1.5 billion</a:t>
            </a:r>
            <a:endParaRPr lang="en-US" sz="950" dirty="0"/>
          </a:p>
        </p:txBody>
      </p:sp>
      <p:sp>
        <p:nvSpPr>
          <p:cNvPr id="29" name="Text 26"/>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47C71"/>
                </a:solidFill>
                <a:latin typeface="Calibri" pitchFamily="34" charset="0"/>
                <a:ea typeface="Calibri" pitchFamily="34" charset="-122"/>
                <a:cs typeface="Calibri" pitchFamily="34" charset="-120"/>
              </a:rPr>
              <a:t>02 · THREAT 3 OF 5</a:t>
            </a:r>
            <a:endParaRPr lang="en-US" sz="1200" dirty="0"/>
          </a:p>
        </p:txBody>
      </p:sp>
      <p:sp>
        <p:nvSpPr>
          <p:cNvPr id="3" name="Text 1"/>
          <p:cNvSpPr/>
          <p:nvPr/>
        </p:nvSpPr>
        <p:spPr>
          <a:xfrm>
            <a:off x="9692640" y="384048"/>
            <a:ext cx="1920240" cy="292608"/>
          </a:xfrm>
          <a:prstGeom prst="rect">
            <a:avLst/>
          </a:prstGeom>
          <a:solidFill>
            <a:srgbClr val="2E86C1"/>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CLOUD RISK</a:t>
            </a:r>
            <a:endParaRPr lang="en-US" sz="1100" dirty="0"/>
          </a:p>
        </p:txBody>
      </p:sp>
      <p:sp>
        <p:nvSpPr>
          <p:cNvPr id="4" name="Shape 2"/>
          <p:cNvSpPr/>
          <p:nvPr/>
        </p:nvSpPr>
        <p:spPr>
          <a:xfrm>
            <a:off x="548640" y="713232"/>
            <a:ext cx="594360" cy="594360"/>
          </a:xfrm>
          <a:prstGeom prst="ellipse">
            <a:avLst/>
          </a:prstGeom>
          <a:solidFill>
            <a:srgbClr val="0B1F3A"/>
          </a:solidFill>
          <a:ln/>
        </p:spPr>
      </p:sp>
      <p:pic>
        <p:nvPicPr>
          <p:cNvPr id="5" name="Image 0" descr="/home/claude/deck/icon_cloud.png"/>
          <p:cNvPicPr>
            <a:picLocks noChangeAspect="1"/>
          </p:cNvPicPr>
          <p:nvPr/>
        </p:nvPicPr>
        <p:blipFill>
          <a:blip r:embed="rId3"/>
          <a:stretch>
            <a:fillRect/>
          </a:stretch>
        </p:blipFill>
        <p:spPr>
          <a:xfrm>
            <a:off x="685800" y="850392"/>
            <a:ext cx="320040" cy="320040"/>
          </a:xfrm>
          <a:prstGeom prst="rect">
            <a:avLst/>
          </a:prstGeom>
        </p:spPr>
      </p:pic>
      <p:sp>
        <p:nvSpPr>
          <p:cNvPr id="6" name="Text 3"/>
          <p:cNvSpPr/>
          <p:nvPr/>
        </p:nvSpPr>
        <p:spPr>
          <a:xfrm>
            <a:off x="1280160" y="658368"/>
            <a:ext cx="7772400" cy="457200"/>
          </a:xfrm>
          <a:prstGeom prst="rect">
            <a:avLst/>
          </a:prstGeom>
          <a:noFill/>
          <a:ln/>
        </p:spPr>
        <p:txBody>
          <a:bodyPr wrap="square" rtlCol="0" anchor="ctr"/>
          <a:lstStyle/>
          <a:p>
            <a:pPr marL="0" indent="0">
              <a:buNone/>
            </a:pPr>
            <a:r>
              <a:rPr lang="en-US" sz="2500" b="1" dirty="0">
                <a:solidFill>
                  <a:srgbClr val="16233A"/>
                </a:solidFill>
                <a:latin typeface="Cambria" pitchFamily="34" charset="0"/>
                <a:ea typeface="Cambria" pitchFamily="34" charset="-122"/>
                <a:cs typeface="Cambria" pitchFamily="34" charset="-120"/>
              </a:rPr>
              <a:t>Cloud Security Misconfigurations</a:t>
            </a:r>
            <a:endParaRPr lang="en-US" sz="2500" dirty="0"/>
          </a:p>
        </p:txBody>
      </p:sp>
      <p:sp>
        <p:nvSpPr>
          <p:cNvPr id="7" name="Text 4"/>
          <p:cNvSpPr/>
          <p:nvPr/>
        </p:nvSpPr>
        <p:spPr>
          <a:xfrm>
            <a:off x="1280160" y="1097280"/>
            <a:ext cx="9509760" cy="365760"/>
          </a:xfrm>
          <a:prstGeom prst="rect">
            <a:avLst/>
          </a:prstGeom>
          <a:noFill/>
          <a:ln/>
        </p:spPr>
        <p:txBody>
          <a:bodyPr wrap="square" rtlCol="0" anchor="ctr"/>
          <a:lstStyle/>
          <a:p>
            <a:pPr marL="0" indent="0">
              <a:buNone/>
            </a:pPr>
            <a:r>
              <a:rPr lang="en-US" sz="1250" i="1" dirty="0">
                <a:solidFill>
                  <a:srgbClr val="5B6B82"/>
                </a:solidFill>
                <a:latin typeface="Calibri" pitchFamily="34" charset="0"/>
                <a:ea typeface="Calibri" pitchFamily="34" charset="-122"/>
                <a:cs typeface="Calibri" pitchFamily="34" charset="-120"/>
              </a:rPr>
              <a:t>The leading cause of cloud breaches isn't hacking — it's leaving the door unlocked.</a:t>
            </a:r>
            <a:endParaRPr lang="en-US" sz="1250" dirty="0"/>
          </a:p>
        </p:txBody>
      </p:sp>
      <p:sp>
        <p:nvSpPr>
          <p:cNvPr id="8" name="Text 5"/>
          <p:cNvSpPr/>
          <p:nvPr/>
        </p:nvSpPr>
        <p:spPr>
          <a:xfrm>
            <a:off x="548640" y="1691640"/>
            <a:ext cx="6309360" cy="1188720"/>
          </a:xfrm>
          <a:prstGeom prst="rect">
            <a:avLst/>
          </a:prstGeom>
          <a:noFill/>
          <a:ln/>
        </p:spPr>
        <p:txBody>
          <a:bodyPr wrap="square" rtlCol="0" anchor="ctr"/>
          <a:lstStyle/>
          <a:p>
            <a:pPr marL="0" indent="0">
              <a:lnSpc>
                <a:spcPts val="1700"/>
              </a:lnSpc>
              <a:buNone/>
            </a:pPr>
            <a:r>
              <a:rPr lang="en-US" sz="1250" dirty="0">
                <a:solidFill>
                  <a:srgbClr val="16233A"/>
                </a:solidFill>
                <a:latin typeface="Calibri" pitchFamily="34" charset="0"/>
                <a:ea typeface="Calibri" pitchFamily="34" charset="-122"/>
                <a:cs typeface="Calibri" pitchFamily="34" charset="-120"/>
              </a:rPr>
              <a:t>As organizations shift workloads to AWS, Azure, and GCP, simple errors — public storage buckets, excessive permissions, missing encryption — routinely expose sensitive data without any advanced exploit required.</a:t>
            </a:r>
            <a:endParaRPr lang="en-US" sz="1250" dirty="0"/>
          </a:p>
        </p:txBody>
      </p:sp>
      <p:sp>
        <p:nvSpPr>
          <p:cNvPr id="9" name="Text 6"/>
          <p:cNvSpPr/>
          <p:nvPr/>
        </p:nvSpPr>
        <p:spPr>
          <a:xfrm>
            <a:off x="548640" y="2926080"/>
            <a:ext cx="2743200" cy="274320"/>
          </a:xfrm>
          <a:prstGeom prst="rect">
            <a:avLst/>
          </a:prstGeom>
          <a:noFill/>
          <a:ln/>
        </p:spPr>
        <p:txBody>
          <a:bodyPr wrap="square" rtlCol="0" anchor="ctr"/>
          <a:lstStyle/>
          <a:p>
            <a:pPr marL="0" indent="0">
              <a:buNone/>
            </a:pPr>
            <a:r>
              <a:rPr lang="en-US" sz="1100" b="1" kern="0" spc="150" dirty="0">
                <a:solidFill>
                  <a:srgbClr val="047C71"/>
                </a:solidFill>
                <a:latin typeface="Calibri" pitchFamily="34" charset="0"/>
                <a:ea typeface="Calibri" pitchFamily="34" charset="-122"/>
                <a:cs typeface="Calibri" pitchFamily="34" charset="-120"/>
              </a:rPr>
              <a:t>IMPACT</a:t>
            </a:r>
            <a:endParaRPr lang="en-US" sz="1100" dirty="0"/>
          </a:p>
        </p:txBody>
      </p:sp>
      <p:sp>
        <p:nvSpPr>
          <p:cNvPr id="10" name="Shape 7"/>
          <p:cNvSpPr/>
          <p:nvPr/>
        </p:nvSpPr>
        <p:spPr>
          <a:xfrm>
            <a:off x="548640" y="3246120"/>
            <a:ext cx="6309360" cy="868680"/>
          </a:xfrm>
          <a:prstGeom prst="roundRect">
            <a:avLst>
              <a:gd name="adj" fmla="val 6316"/>
            </a:avLst>
          </a:prstGeom>
          <a:solidFill>
            <a:srgbClr val="F3F6FA"/>
          </a:solidFill>
          <a:ln/>
        </p:spPr>
      </p:sp>
      <p:sp>
        <p:nvSpPr>
          <p:cNvPr id="11" name="Text 8"/>
          <p:cNvSpPr/>
          <p:nvPr/>
        </p:nvSpPr>
        <p:spPr>
          <a:xfrm>
            <a:off x="749808" y="3346704"/>
            <a:ext cx="5897880" cy="411480"/>
          </a:xfrm>
          <a:prstGeom prst="rect">
            <a:avLst/>
          </a:prstGeom>
          <a:noFill/>
          <a:ln/>
        </p:spPr>
        <p:txBody>
          <a:bodyPr wrap="square" rtlCol="0" anchor="ctr"/>
          <a:lstStyle/>
          <a:p>
            <a:pPr marL="0" indent="0">
              <a:lnSpc>
                <a:spcPts val="1400"/>
              </a:lnSpc>
              <a:buNone/>
            </a:pPr>
            <a:r>
              <a:rPr lang="en-US" sz="1150" b="1" dirty="0">
                <a:solidFill>
                  <a:srgbClr val="16233A"/>
                </a:solidFill>
                <a:latin typeface="Calibri" pitchFamily="34" charset="0"/>
                <a:ea typeface="Calibri" pitchFamily="34" charset="-122"/>
                <a:cs typeface="Calibri" pitchFamily="34" charset="-120"/>
              </a:rPr>
              <a:t>Individuals:  </a:t>
            </a:r>
            <a:r>
              <a:rPr lang="en-US" sz="1150" dirty="0">
                <a:solidFill>
                  <a:srgbClr val="5B6B82"/>
                </a:solidFill>
                <a:latin typeface="Calibri" pitchFamily="34" charset="0"/>
                <a:ea typeface="Calibri" pitchFamily="34" charset="-122"/>
                <a:cs typeface="Calibri" pitchFamily="34" charset="-120"/>
              </a:rPr>
              <a:t>personal and financial records exposed to anyone who finds the open storage location.</a:t>
            </a:r>
            <a:endParaRPr lang="en-US" sz="1150" dirty="0"/>
          </a:p>
        </p:txBody>
      </p:sp>
      <p:sp>
        <p:nvSpPr>
          <p:cNvPr id="12" name="Text 9"/>
          <p:cNvSpPr/>
          <p:nvPr/>
        </p:nvSpPr>
        <p:spPr>
          <a:xfrm>
            <a:off x="749808" y="3730752"/>
            <a:ext cx="5897880" cy="411480"/>
          </a:xfrm>
          <a:prstGeom prst="rect">
            <a:avLst/>
          </a:prstGeom>
          <a:noFill/>
          <a:ln/>
        </p:spPr>
        <p:txBody>
          <a:bodyPr wrap="square" rtlCol="0" anchor="ctr"/>
          <a:lstStyle/>
          <a:p>
            <a:pPr marL="0" indent="0">
              <a:lnSpc>
                <a:spcPts val="1400"/>
              </a:lnSpc>
              <a:buNone/>
            </a:pPr>
            <a:r>
              <a:rPr lang="en-US" sz="1150" b="1" dirty="0">
                <a:solidFill>
                  <a:srgbClr val="16233A"/>
                </a:solidFill>
                <a:latin typeface="Calibri" pitchFamily="34" charset="0"/>
                <a:ea typeface="Calibri" pitchFamily="34" charset="-122"/>
                <a:cs typeface="Calibri" pitchFamily="34" charset="-120"/>
              </a:rPr>
              <a:t>Organizations:  </a:t>
            </a:r>
            <a:r>
              <a:rPr lang="en-US" sz="1150" dirty="0">
                <a:solidFill>
                  <a:srgbClr val="5B6B82"/>
                </a:solidFill>
                <a:latin typeface="Calibri" pitchFamily="34" charset="0"/>
                <a:ea typeface="Calibri" pitchFamily="34" charset="-122"/>
                <a:cs typeface="Calibri" pitchFamily="34" charset="-120"/>
              </a:rPr>
              <a:t>regulatory fines, breach-notification costs, and lasting reputational damage.</a:t>
            </a:r>
            <a:endParaRPr lang="en-US" sz="1150" dirty="0"/>
          </a:p>
        </p:txBody>
      </p:sp>
      <p:sp>
        <p:nvSpPr>
          <p:cNvPr id="13" name="Text 10"/>
          <p:cNvSpPr/>
          <p:nvPr/>
        </p:nvSpPr>
        <p:spPr>
          <a:xfrm>
            <a:off x="548640" y="4279392"/>
            <a:ext cx="3657600" cy="274320"/>
          </a:xfrm>
          <a:prstGeom prst="rect">
            <a:avLst/>
          </a:prstGeom>
          <a:noFill/>
          <a:ln/>
        </p:spPr>
        <p:txBody>
          <a:bodyPr wrap="square" rtlCol="0" anchor="ctr"/>
          <a:lstStyle/>
          <a:p>
            <a:pPr marL="0" indent="0">
              <a:buNone/>
            </a:pPr>
            <a:r>
              <a:rPr lang="en-US" sz="1100" b="1" kern="0" spc="150" dirty="0">
                <a:solidFill>
                  <a:srgbClr val="047C71"/>
                </a:solidFill>
                <a:latin typeface="Calibri" pitchFamily="34" charset="0"/>
                <a:ea typeface="Calibri" pitchFamily="34" charset="-122"/>
                <a:cs typeface="Calibri" pitchFamily="34" charset="-120"/>
              </a:rPr>
              <a:t>PREVENTIVE MEASURES</a:t>
            </a:r>
            <a:endParaRPr lang="en-US" sz="1100" dirty="0"/>
          </a:p>
        </p:txBody>
      </p:sp>
      <p:sp>
        <p:nvSpPr>
          <p:cNvPr id="14" name="Shape 11"/>
          <p:cNvSpPr/>
          <p:nvPr/>
        </p:nvSpPr>
        <p:spPr>
          <a:xfrm>
            <a:off x="548640" y="4590288"/>
            <a:ext cx="2039112" cy="1261872"/>
          </a:xfrm>
          <a:prstGeom prst="roundRect">
            <a:avLst>
              <a:gd name="adj" fmla="val 4348"/>
            </a:avLst>
          </a:prstGeom>
          <a:solidFill>
            <a:srgbClr val="0B1F3A"/>
          </a:solidFill>
          <a:ln/>
        </p:spPr>
      </p:sp>
      <p:sp>
        <p:nvSpPr>
          <p:cNvPr id="15" name="Text 12"/>
          <p:cNvSpPr/>
          <p:nvPr/>
        </p:nvSpPr>
        <p:spPr>
          <a:xfrm>
            <a:off x="685800"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Cloud Security Posture Management (CSPM) tools for continuous config audits</a:t>
            </a:r>
            <a:endParaRPr lang="en-US" sz="1050" dirty="0"/>
          </a:p>
        </p:txBody>
      </p:sp>
      <p:sp>
        <p:nvSpPr>
          <p:cNvPr id="16" name="Shape 13"/>
          <p:cNvSpPr/>
          <p:nvPr/>
        </p:nvSpPr>
        <p:spPr>
          <a:xfrm>
            <a:off x="2679192" y="4590288"/>
            <a:ext cx="2039112" cy="1261872"/>
          </a:xfrm>
          <a:prstGeom prst="roundRect">
            <a:avLst>
              <a:gd name="adj" fmla="val 4348"/>
            </a:avLst>
          </a:prstGeom>
          <a:solidFill>
            <a:srgbClr val="0B1F3A"/>
          </a:solidFill>
          <a:ln/>
        </p:spPr>
      </p:sp>
      <p:sp>
        <p:nvSpPr>
          <p:cNvPr id="17" name="Text 14"/>
          <p:cNvSpPr/>
          <p:nvPr/>
        </p:nvSpPr>
        <p:spPr>
          <a:xfrm>
            <a:off x="2816352"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Least-privilege IAM policies and regular access reviews</a:t>
            </a:r>
            <a:endParaRPr lang="en-US" sz="1050" dirty="0"/>
          </a:p>
        </p:txBody>
      </p:sp>
      <p:sp>
        <p:nvSpPr>
          <p:cNvPr id="18" name="Shape 15"/>
          <p:cNvSpPr/>
          <p:nvPr/>
        </p:nvSpPr>
        <p:spPr>
          <a:xfrm>
            <a:off x="4809744" y="4590288"/>
            <a:ext cx="2039112" cy="1261872"/>
          </a:xfrm>
          <a:prstGeom prst="roundRect">
            <a:avLst>
              <a:gd name="adj" fmla="val 4348"/>
            </a:avLst>
          </a:prstGeom>
          <a:solidFill>
            <a:srgbClr val="0B1F3A"/>
          </a:solidFill>
          <a:ln/>
        </p:spPr>
      </p:sp>
      <p:sp>
        <p:nvSpPr>
          <p:cNvPr id="19" name="Text 16"/>
          <p:cNvSpPr/>
          <p:nvPr/>
        </p:nvSpPr>
        <p:spPr>
          <a:xfrm>
            <a:off x="4946904"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Encrypt data at rest and in transit by default, with no public-by-default storage</a:t>
            </a:r>
            <a:endParaRPr lang="en-US" sz="1050" dirty="0"/>
          </a:p>
        </p:txBody>
      </p:sp>
      <p:sp>
        <p:nvSpPr>
          <p:cNvPr id="20" name="Shape 17"/>
          <p:cNvSpPr/>
          <p:nvPr/>
        </p:nvSpPr>
        <p:spPr>
          <a:xfrm>
            <a:off x="7086600" y="1691640"/>
            <a:ext cx="4526280" cy="4160520"/>
          </a:xfrm>
          <a:prstGeom prst="roundRect">
            <a:avLst>
              <a:gd name="adj" fmla="val 1978"/>
            </a:avLst>
          </a:prstGeom>
          <a:solidFill>
            <a:srgbClr val="13294B"/>
          </a:solidFill>
          <a:ln/>
        </p:spPr>
      </p:sp>
      <p:sp>
        <p:nvSpPr>
          <p:cNvPr id="21" name="Text 18"/>
          <p:cNvSpPr/>
          <p:nvPr/>
        </p:nvSpPr>
        <p:spPr>
          <a:xfrm>
            <a:off x="7360920" y="1874520"/>
            <a:ext cx="4023360" cy="274320"/>
          </a:xfrm>
          <a:prstGeom prst="rect">
            <a:avLst/>
          </a:prstGeom>
          <a:noFill/>
          <a:ln/>
        </p:spPr>
        <p:txBody>
          <a:bodyPr wrap="square" rtlCol="0" anchor="ctr"/>
          <a:lstStyle/>
          <a:p>
            <a:pPr marL="0" indent="0">
              <a:buNone/>
            </a:pPr>
            <a:r>
              <a:rPr lang="en-US" sz="1050" b="1" kern="0" spc="150" dirty="0">
                <a:solidFill>
                  <a:srgbClr val="00D9C0"/>
                </a:solidFill>
                <a:latin typeface="Calibri" pitchFamily="34" charset="0"/>
                <a:ea typeface="Calibri" pitchFamily="34" charset="-122"/>
                <a:cs typeface="Calibri" pitchFamily="34" charset="-120"/>
              </a:rPr>
              <a:t>REAL-WORLD CASE STUDY</a:t>
            </a:r>
            <a:endParaRPr lang="en-US" sz="1050" dirty="0"/>
          </a:p>
        </p:txBody>
      </p:sp>
      <p:sp>
        <p:nvSpPr>
          <p:cNvPr id="22" name="Text 19"/>
          <p:cNvSpPr/>
          <p:nvPr/>
        </p:nvSpPr>
        <p:spPr>
          <a:xfrm>
            <a:off x="7360920" y="2176272"/>
            <a:ext cx="4023360" cy="594360"/>
          </a:xfrm>
          <a:prstGeom prst="rect">
            <a:avLst/>
          </a:prstGeom>
          <a:noFill/>
          <a:ln/>
        </p:spPr>
        <p:txBody>
          <a:bodyPr wrap="square" rtlCol="0" anchor="ctr"/>
          <a:lstStyle/>
          <a:p>
            <a:pPr marL="0" indent="0">
              <a:lnSpc>
                <a:spcPts val="2100"/>
              </a:lnSpc>
              <a:buNone/>
            </a:pPr>
            <a:r>
              <a:rPr lang="en-US" sz="1800" b="1" dirty="0">
                <a:solidFill>
                  <a:srgbClr val="FFFFFF"/>
                </a:solidFill>
                <a:latin typeface="Cambria" pitchFamily="34" charset="0"/>
                <a:ea typeface="Cambria" pitchFamily="34" charset="-122"/>
                <a:cs typeface="Cambria" pitchFamily="34" charset="-120"/>
              </a:rPr>
              <a:t>The Capital One Cloud Breach</a:t>
            </a:r>
            <a:endParaRPr lang="en-US" sz="1800" dirty="0"/>
          </a:p>
        </p:txBody>
      </p:sp>
      <p:sp>
        <p:nvSpPr>
          <p:cNvPr id="23" name="Text 20"/>
          <p:cNvSpPr/>
          <p:nvPr/>
        </p:nvSpPr>
        <p:spPr>
          <a:xfrm>
            <a:off x="7360920" y="2724912"/>
            <a:ext cx="4023360" cy="274320"/>
          </a:xfrm>
          <a:prstGeom prst="rect">
            <a:avLst/>
          </a:prstGeom>
          <a:noFill/>
          <a:ln/>
        </p:spPr>
        <p:txBody>
          <a:bodyPr wrap="square" rtlCol="0" anchor="ctr"/>
          <a:lstStyle/>
          <a:p>
            <a:pPr marL="0" indent="0">
              <a:buNone/>
            </a:pPr>
            <a:r>
              <a:rPr lang="en-US" sz="1100" dirty="0">
                <a:solidFill>
                  <a:srgbClr val="AFC2D9"/>
                </a:solidFill>
                <a:latin typeface="Calibri" pitchFamily="34" charset="0"/>
                <a:ea typeface="Calibri" pitchFamily="34" charset="-122"/>
                <a:cs typeface="Calibri" pitchFamily="34" charset="-120"/>
              </a:rPr>
              <a:t>United States · 2019 (landmark precedent)</a:t>
            </a:r>
            <a:endParaRPr lang="en-US" sz="1100" dirty="0"/>
          </a:p>
        </p:txBody>
      </p:sp>
      <p:sp>
        <p:nvSpPr>
          <p:cNvPr id="24" name="Shape 21"/>
          <p:cNvSpPr/>
          <p:nvPr/>
        </p:nvSpPr>
        <p:spPr>
          <a:xfrm>
            <a:off x="7360920" y="3090672"/>
            <a:ext cx="3977640" cy="0"/>
          </a:xfrm>
          <a:prstGeom prst="line">
            <a:avLst/>
          </a:prstGeom>
          <a:noFill/>
          <a:ln w="12700">
            <a:solidFill>
              <a:srgbClr val="1C3660"/>
            </a:solidFill>
            <a:prstDash val="solid"/>
          </a:ln>
        </p:spPr>
      </p:sp>
      <p:sp>
        <p:nvSpPr>
          <p:cNvPr id="25" name="Text 22"/>
          <p:cNvSpPr/>
          <p:nvPr/>
        </p:nvSpPr>
        <p:spPr>
          <a:xfrm>
            <a:off x="7360920" y="3246120"/>
            <a:ext cx="4023360" cy="1463040"/>
          </a:xfrm>
          <a:prstGeom prst="rect">
            <a:avLst/>
          </a:prstGeom>
          <a:noFill/>
          <a:ln/>
        </p:spPr>
        <p:txBody>
          <a:bodyPr wrap="square" rtlCol="0" anchor="ctr"/>
          <a:lstStyle/>
          <a:p>
            <a:pPr marL="0" indent="0">
              <a:lnSpc>
                <a:spcPts val="1550"/>
              </a:lnSpc>
              <a:buNone/>
            </a:pPr>
            <a:r>
              <a:rPr lang="en-US" sz="1150" dirty="0">
                <a:solidFill>
                  <a:srgbClr val="AFC2D9"/>
                </a:solidFill>
                <a:latin typeface="Calibri" pitchFamily="34" charset="0"/>
                <a:ea typeface="Calibri" pitchFamily="34" charset="-122"/>
                <a:cs typeface="Calibri" pitchFamily="34" charset="-120"/>
              </a:rPr>
              <a:t>A misconfigured web-application firewall on a cloud-hosted server let an attacker query internal metadata and retrieve credentials with excessive permissions, exposing customer records in one of the largest bank data breaches on record.</a:t>
            </a:r>
            <a:endParaRPr lang="en-US" sz="1150" dirty="0"/>
          </a:p>
        </p:txBody>
      </p:sp>
      <p:sp>
        <p:nvSpPr>
          <p:cNvPr id="26" name="Shape 23"/>
          <p:cNvSpPr/>
          <p:nvPr/>
        </p:nvSpPr>
        <p:spPr>
          <a:xfrm>
            <a:off x="7360920" y="4754880"/>
            <a:ext cx="3977640" cy="960120"/>
          </a:xfrm>
          <a:prstGeom prst="roundRect">
            <a:avLst>
              <a:gd name="adj" fmla="val 5714"/>
            </a:avLst>
          </a:prstGeom>
          <a:solidFill>
            <a:srgbClr val="1C3660"/>
          </a:solidFill>
          <a:ln/>
        </p:spPr>
      </p:sp>
      <p:sp>
        <p:nvSpPr>
          <p:cNvPr id="27" name="Text 24"/>
          <p:cNvSpPr/>
          <p:nvPr/>
        </p:nvSpPr>
        <p:spPr>
          <a:xfrm>
            <a:off x="7543800" y="4846320"/>
            <a:ext cx="3611880" cy="411480"/>
          </a:xfrm>
          <a:prstGeom prst="rect">
            <a:avLst/>
          </a:prstGeom>
          <a:noFill/>
          <a:ln/>
        </p:spPr>
        <p:txBody>
          <a:bodyPr wrap="square" rtlCol="0" anchor="ctr"/>
          <a:lstStyle/>
          <a:p>
            <a:pPr marL="0" indent="0">
              <a:buNone/>
            </a:pPr>
            <a:r>
              <a:rPr lang="en-US" sz="2000" b="1" dirty="0">
                <a:solidFill>
                  <a:srgbClr val="00D9C0"/>
                </a:solidFill>
                <a:latin typeface="Cambria" pitchFamily="34" charset="0"/>
                <a:ea typeface="Cambria" pitchFamily="34" charset="-122"/>
                <a:cs typeface="Cambria" pitchFamily="34" charset="-120"/>
              </a:rPr>
              <a:t>100M+</a:t>
            </a:r>
            <a:endParaRPr lang="en-US" sz="2000" dirty="0"/>
          </a:p>
        </p:txBody>
      </p:sp>
      <p:sp>
        <p:nvSpPr>
          <p:cNvPr id="28" name="Text 25"/>
          <p:cNvSpPr/>
          <p:nvPr/>
        </p:nvSpPr>
        <p:spPr>
          <a:xfrm>
            <a:off x="7543800" y="5257800"/>
            <a:ext cx="3611880" cy="384048"/>
          </a:xfrm>
          <a:prstGeom prst="rect">
            <a:avLst/>
          </a:prstGeom>
          <a:noFill/>
          <a:ln/>
        </p:spPr>
        <p:txBody>
          <a:bodyPr wrap="square" rtlCol="0" anchor="ctr"/>
          <a:lstStyle/>
          <a:p>
            <a:pPr marL="0" indent="0">
              <a:lnSpc>
                <a:spcPts val="1200"/>
              </a:lnSpc>
              <a:buNone/>
            </a:pPr>
            <a:r>
              <a:rPr lang="en-US" sz="950" dirty="0">
                <a:solidFill>
                  <a:srgbClr val="AFC2D9"/>
                </a:solidFill>
                <a:latin typeface="Calibri" pitchFamily="34" charset="0"/>
                <a:ea typeface="Calibri" pitchFamily="34" charset="-122"/>
                <a:cs typeface="Calibri" pitchFamily="34" charset="-120"/>
              </a:rPr>
              <a:t>individuals affected — still cited as the benchmark cloud-misconfiguration case</a:t>
            </a:r>
            <a:endParaRPr lang="en-US" sz="950" dirty="0"/>
          </a:p>
        </p:txBody>
      </p:sp>
      <p:sp>
        <p:nvSpPr>
          <p:cNvPr id="29" name="Text 26"/>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47C71"/>
                </a:solidFill>
                <a:latin typeface="Calibri" pitchFamily="34" charset="0"/>
                <a:ea typeface="Calibri" pitchFamily="34" charset="-122"/>
                <a:cs typeface="Calibri" pitchFamily="34" charset="-120"/>
              </a:rPr>
              <a:t>02 · THREAT 4 OF 5</a:t>
            </a:r>
            <a:endParaRPr lang="en-US" sz="1200" dirty="0"/>
          </a:p>
        </p:txBody>
      </p:sp>
      <p:sp>
        <p:nvSpPr>
          <p:cNvPr id="3" name="Text 1"/>
          <p:cNvSpPr/>
          <p:nvPr/>
        </p:nvSpPr>
        <p:spPr>
          <a:xfrm>
            <a:off x="9692640" y="384048"/>
            <a:ext cx="1920240" cy="292608"/>
          </a:xfrm>
          <a:prstGeom prst="rect">
            <a:avLst/>
          </a:prstGeom>
          <a:solidFill>
            <a:srgbClr val="16A085"/>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DEVICE SECURITY</a:t>
            </a:r>
            <a:endParaRPr lang="en-US" sz="1100" dirty="0"/>
          </a:p>
        </p:txBody>
      </p:sp>
      <p:sp>
        <p:nvSpPr>
          <p:cNvPr id="4" name="Shape 2"/>
          <p:cNvSpPr/>
          <p:nvPr/>
        </p:nvSpPr>
        <p:spPr>
          <a:xfrm>
            <a:off x="548640" y="713232"/>
            <a:ext cx="594360" cy="594360"/>
          </a:xfrm>
          <a:prstGeom prst="ellipse">
            <a:avLst/>
          </a:prstGeom>
          <a:solidFill>
            <a:srgbClr val="0B1F3A"/>
          </a:solidFill>
          <a:ln/>
        </p:spPr>
      </p:sp>
      <p:pic>
        <p:nvPicPr>
          <p:cNvPr id="5" name="Image 0" descr="/home/claude/deck/icon_wifi.png"/>
          <p:cNvPicPr>
            <a:picLocks noChangeAspect="1"/>
          </p:cNvPicPr>
          <p:nvPr/>
        </p:nvPicPr>
        <p:blipFill>
          <a:blip r:embed="rId3"/>
          <a:stretch>
            <a:fillRect/>
          </a:stretch>
        </p:blipFill>
        <p:spPr>
          <a:xfrm>
            <a:off x="685800" y="850392"/>
            <a:ext cx="320040" cy="320040"/>
          </a:xfrm>
          <a:prstGeom prst="rect">
            <a:avLst/>
          </a:prstGeom>
        </p:spPr>
      </p:pic>
      <p:sp>
        <p:nvSpPr>
          <p:cNvPr id="6" name="Text 3"/>
          <p:cNvSpPr/>
          <p:nvPr/>
        </p:nvSpPr>
        <p:spPr>
          <a:xfrm>
            <a:off x="1280160" y="658368"/>
            <a:ext cx="7772400" cy="457200"/>
          </a:xfrm>
          <a:prstGeom prst="rect">
            <a:avLst/>
          </a:prstGeom>
          <a:noFill/>
          <a:ln/>
        </p:spPr>
        <p:txBody>
          <a:bodyPr wrap="square" rtlCol="0" anchor="ctr"/>
          <a:lstStyle/>
          <a:p>
            <a:pPr marL="0" indent="0">
              <a:buNone/>
            </a:pPr>
            <a:r>
              <a:rPr lang="en-US" sz="2500" b="1" dirty="0">
                <a:solidFill>
                  <a:srgbClr val="16233A"/>
                </a:solidFill>
                <a:latin typeface="Cambria" pitchFamily="34" charset="0"/>
                <a:ea typeface="Cambria" pitchFamily="34" charset="-122"/>
                <a:cs typeface="Cambria" pitchFamily="34" charset="-120"/>
              </a:rPr>
              <a:t>IoT Vulnerabilities</a:t>
            </a:r>
            <a:endParaRPr lang="en-US" sz="2500" dirty="0"/>
          </a:p>
        </p:txBody>
      </p:sp>
      <p:sp>
        <p:nvSpPr>
          <p:cNvPr id="7" name="Text 4"/>
          <p:cNvSpPr/>
          <p:nvPr/>
        </p:nvSpPr>
        <p:spPr>
          <a:xfrm>
            <a:off x="1280160" y="1097280"/>
            <a:ext cx="9509760" cy="365760"/>
          </a:xfrm>
          <a:prstGeom prst="rect">
            <a:avLst/>
          </a:prstGeom>
          <a:noFill/>
          <a:ln/>
        </p:spPr>
        <p:txBody>
          <a:bodyPr wrap="square" rtlCol="0" anchor="ctr"/>
          <a:lstStyle/>
          <a:p>
            <a:pPr marL="0" indent="0">
              <a:buNone/>
            </a:pPr>
            <a:r>
              <a:rPr lang="en-US" sz="1250" i="1" dirty="0">
                <a:solidFill>
                  <a:srgbClr val="5B6B82"/>
                </a:solidFill>
                <a:latin typeface="Calibri" pitchFamily="34" charset="0"/>
                <a:ea typeface="Calibri" pitchFamily="34" charset="-122"/>
                <a:cs typeface="Calibri" pitchFamily="34" charset="-120"/>
              </a:rPr>
              <a:t>Billions of cameras, routers, and sensors ship with weak defaults and rarely get patched.</a:t>
            </a:r>
            <a:endParaRPr lang="en-US" sz="1250" dirty="0"/>
          </a:p>
        </p:txBody>
      </p:sp>
      <p:sp>
        <p:nvSpPr>
          <p:cNvPr id="8" name="Text 5"/>
          <p:cNvSpPr/>
          <p:nvPr/>
        </p:nvSpPr>
        <p:spPr>
          <a:xfrm>
            <a:off x="548640" y="1691640"/>
            <a:ext cx="6309360" cy="1188720"/>
          </a:xfrm>
          <a:prstGeom prst="rect">
            <a:avLst/>
          </a:prstGeom>
          <a:noFill/>
          <a:ln/>
        </p:spPr>
        <p:txBody>
          <a:bodyPr wrap="square" rtlCol="0" anchor="ctr"/>
          <a:lstStyle/>
          <a:p>
            <a:pPr marL="0" indent="0">
              <a:lnSpc>
                <a:spcPts val="1700"/>
              </a:lnSpc>
              <a:buNone/>
            </a:pPr>
            <a:r>
              <a:rPr lang="en-US" sz="1250" dirty="0">
                <a:solidFill>
                  <a:srgbClr val="16233A"/>
                </a:solidFill>
                <a:latin typeface="Calibri" pitchFamily="34" charset="0"/>
                <a:ea typeface="Calibri" pitchFamily="34" charset="-122"/>
                <a:cs typeface="Calibri" pitchFamily="34" charset="-120"/>
              </a:rPr>
              <a:t>IoT devices are often built for convenience, not security — default passwords, unpatched firmware, and no built-in monitoring. Compromised devices are silently drafted into botnets that launch massive coordinated attacks.</a:t>
            </a:r>
            <a:endParaRPr lang="en-US" sz="1250" dirty="0"/>
          </a:p>
        </p:txBody>
      </p:sp>
      <p:sp>
        <p:nvSpPr>
          <p:cNvPr id="9" name="Text 6"/>
          <p:cNvSpPr/>
          <p:nvPr/>
        </p:nvSpPr>
        <p:spPr>
          <a:xfrm>
            <a:off x="548640" y="2926080"/>
            <a:ext cx="2743200" cy="274320"/>
          </a:xfrm>
          <a:prstGeom prst="rect">
            <a:avLst/>
          </a:prstGeom>
          <a:noFill/>
          <a:ln/>
        </p:spPr>
        <p:txBody>
          <a:bodyPr wrap="square" rtlCol="0" anchor="ctr"/>
          <a:lstStyle/>
          <a:p>
            <a:pPr marL="0" indent="0">
              <a:buNone/>
            </a:pPr>
            <a:r>
              <a:rPr lang="en-US" sz="1100" b="1" kern="0" spc="150" dirty="0">
                <a:solidFill>
                  <a:srgbClr val="047C71"/>
                </a:solidFill>
                <a:latin typeface="Calibri" pitchFamily="34" charset="0"/>
                <a:ea typeface="Calibri" pitchFamily="34" charset="-122"/>
                <a:cs typeface="Calibri" pitchFamily="34" charset="-120"/>
              </a:rPr>
              <a:t>IMPACT</a:t>
            </a:r>
            <a:endParaRPr lang="en-US" sz="1100" dirty="0"/>
          </a:p>
        </p:txBody>
      </p:sp>
      <p:sp>
        <p:nvSpPr>
          <p:cNvPr id="10" name="Shape 7"/>
          <p:cNvSpPr/>
          <p:nvPr/>
        </p:nvSpPr>
        <p:spPr>
          <a:xfrm>
            <a:off x="548640" y="3246120"/>
            <a:ext cx="6309360" cy="868680"/>
          </a:xfrm>
          <a:prstGeom prst="roundRect">
            <a:avLst>
              <a:gd name="adj" fmla="val 6316"/>
            </a:avLst>
          </a:prstGeom>
          <a:solidFill>
            <a:srgbClr val="F3F6FA"/>
          </a:solidFill>
          <a:ln/>
        </p:spPr>
      </p:sp>
      <p:sp>
        <p:nvSpPr>
          <p:cNvPr id="11" name="Text 8"/>
          <p:cNvSpPr/>
          <p:nvPr/>
        </p:nvSpPr>
        <p:spPr>
          <a:xfrm>
            <a:off x="749808" y="3346704"/>
            <a:ext cx="5897880" cy="411480"/>
          </a:xfrm>
          <a:prstGeom prst="rect">
            <a:avLst/>
          </a:prstGeom>
          <a:noFill/>
          <a:ln/>
        </p:spPr>
        <p:txBody>
          <a:bodyPr wrap="square" rtlCol="0" anchor="ctr"/>
          <a:lstStyle/>
          <a:p>
            <a:pPr marL="0" indent="0">
              <a:lnSpc>
                <a:spcPts val="1400"/>
              </a:lnSpc>
              <a:buNone/>
            </a:pPr>
            <a:r>
              <a:rPr lang="en-US" sz="1150" b="1" dirty="0">
                <a:solidFill>
                  <a:srgbClr val="16233A"/>
                </a:solidFill>
                <a:latin typeface="Calibri" pitchFamily="34" charset="0"/>
                <a:ea typeface="Calibri" pitchFamily="34" charset="-122"/>
                <a:cs typeface="Calibri" pitchFamily="34" charset="-120"/>
              </a:rPr>
              <a:t>Individuals:  </a:t>
            </a:r>
            <a:r>
              <a:rPr lang="en-US" sz="1150" dirty="0">
                <a:solidFill>
                  <a:srgbClr val="5B6B82"/>
                </a:solidFill>
                <a:latin typeface="Calibri" pitchFamily="34" charset="0"/>
                <a:ea typeface="Calibri" pitchFamily="34" charset="-122"/>
                <a:cs typeface="Calibri" pitchFamily="34" charset="-120"/>
              </a:rPr>
              <a:t>smart cameras or routers hijacked for surveillance or as launch points for larger attacks.</a:t>
            </a:r>
            <a:endParaRPr lang="en-US" sz="1150" dirty="0"/>
          </a:p>
        </p:txBody>
      </p:sp>
      <p:sp>
        <p:nvSpPr>
          <p:cNvPr id="12" name="Text 9"/>
          <p:cNvSpPr/>
          <p:nvPr/>
        </p:nvSpPr>
        <p:spPr>
          <a:xfrm>
            <a:off x="749808" y="3730752"/>
            <a:ext cx="5897880" cy="411480"/>
          </a:xfrm>
          <a:prstGeom prst="rect">
            <a:avLst/>
          </a:prstGeom>
          <a:noFill/>
          <a:ln/>
        </p:spPr>
        <p:txBody>
          <a:bodyPr wrap="square" rtlCol="0" anchor="ctr"/>
          <a:lstStyle/>
          <a:p>
            <a:pPr marL="0" indent="0">
              <a:lnSpc>
                <a:spcPts val="1400"/>
              </a:lnSpc>
              <a:buNone/>
            </a:pPr>
            <a:r>
              <a:rPr lang="en-US" sz="1150" b="1" dirty="0">
                <a:solidFill>
                  <a:srgbClr val="16233A"/>
                </a:solidFill>
                <a:latin typeface="Calibri" pitchFamily="34" charset="0"/>
                <a:ea typeface="Calibri" pitchFamily="34" charset="-122"/>
                <a:cs typeface="Calibri" pitchFamily="34" charset="-120"/>
              </a:rPr>
              <a:t>Organizations:  </a:t>
            </a:r>
            <a:r>
              <a:rPr lang="en-US" sz="1150" dirty="0">
                <a:solidFill>
                  <a:srgbClr val="5B6B82"/>
                </a:solidFill>
                <a:latin typeface="Calibri" pitchFamily="34" charset="0"/>
                <a:ea typeface="Calibri" pitchFamily="34" charset="-122"/>
                <a:cs typeface="Calibri" pitchFamily="34" charset="-120"/>
              </a:rPr>
              <a:t>websites and services knocked offline for hours by botnet-driven traffic floods.</a:t>
            </a:r>
            <a:endParaRPr lang="en-US" sz="1150" dirty="0"/>
          </a:p>
        </p:txBody>
      </p:sp>
      <p:sp>
        <p:nvSpPr>
          <p:cNvPr id="13" name="Text 10"/>
          <p:cNvSpPr/>
          <p:nvPr/>
        </p:nvSpPr>
        <p:spPr>
          <a:xfrm>
            <a:off x="548640" y="4279392"/>
            <a:ext cx="3657600" cy="274320"/>
          </a:xfrm>
          <a:prstGeom prst="rect">
            <a:avLst/>
          </a:prstGeom>
          <a:noFill/>
          <a:ln/>
        </p:spPr>
        <p:txBody>
          <a:bodyPr wrap="square" rtlCol="0" anchor="ctr"/>
          <a:lstStyle/>
          <a:p>
            <a:pPr marL="0" indent="0">
              <a:buNone/>
            </a:pPr>
            <a:r>
              <a:rPr lang="en-US" sz="1100" b="1" kern="0" spc="150" dirty="0">
                <a:solidFill>
                  <a:srgbClr val="047C71"/>
                </a:solidFill>
                <a:latin typeface="Calibri" pitchFamily="34" charset="0"/>
                <a:ea typeface="Calibri" pitchFamily="34" charset="-122"/>
                <a:cs typeface="Calibri" pitchFamily="34" charset="-120"/>
              </a:rPr>
              <a:t>PREVENTIVE MEASURES</a:t>
            </a:r>
            <a:endParaRPr lang="en-US" sz="1100" dirty="0"/>
          </a:p>
        </p:txBody>
      </p:sp>
      <p:sp>
        <p:nvSpPr>
          <p:cNvPr id="14" name="Shape 11"/>
          <p:cNvSpPr/>
          <p:nvPr/>
        </p:nvSpPr>
        <p:spPr>
          <a:xfrm>
            <a:off x="548640" y="4590288"/>
            <a:ext cx="2039112" cy="1261872"/>
          </a:xfrm>
          <a:prstGeom prst="roundRect">
            <a:avLst>
              <a:gd name="adj" fmla="val 4348"/>
            </a:avLst>
          </a:prstGeom>
          <a:solidFill>
            <a:srgbClr val="0B1F3A"/>
          </a:solidFill>
          <a:ln/>
        </p:spPr>
      </p:sp>
      <p:sp>
        <p:nvSpPr>
          <p:cNvPr id="15" name="Text 12"/>
          <p:cNvSpPr/>
          <p:nvPr/>
        </p:nvSpPr>
        <p:spPr>
          <a:xfrm>
            <a:off x="685800"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Change default credentials and disable unused remote-access services</a:t>
            </a:r>
            <a:endParaRPr lang="en-US" sz="1050" dirty="0"/>
          </a:p>
        </p:txBody>
      </p:sp>
      <p:sp>
        <p:nvSpPr>
          <p:cNvPr id="16" name="Shape 13"/>
          <p:cNvSpPr/>
          <p:nvPr/>
        </p:nvSpPr>
        <p:spPr>
          <a:xfrm>
            <a:off x="2679192" y="4590288"/>
            <a:ext cx="2039112" cy="1261872"/>
          </a:xfrm>
          <a:prstGeom prst="roundRect">
            <a:avLst>
              <a:gd name="adj" fmla="val 4348"/>
            </a:avLst>
          </a:prstGeom>
          <a:solidFill>
            <a:srgbClr val="0B1F3A"/>
          </a:solidFill>
          <a:ln/>
        </p:spPr>
      </p:sp>
      <p:sp>
        <p:nvSpPr>
          <p:cNvPr id="17" name="Text 14"/>
          <p:cNvSpPr/>
          <p:nvPr/>
        </p:nvSpPr>
        <p:spPr>
          <a:xfrm>
            <a:off x="2816352"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Segment IoT devices onto a separate network from core business systems</a:t>
            </a:r>
            <a:endParaRPr lang="en-US" sz="1050" dirty="0"/>
          </a:p>
        </p:txBody>
      </p:sp>
      <p:sp>
        <p:nvSpPr>
          <p:cNvPr id="18" name="Shape 15"/>
          <p:cNvSpPr/>
          <p:nvPr/>
        </p:nvSpPr>
        <p:spPr>
          <a:xfrm>
            <a:off x="4809744" y="4590288"/>
            <a:ext cx="2039112" cy="1261872"/>
          </a:xfrm>
          <a:prstGeom prst="roundRect">
            <a:avLst>
              <a:gd name="adj" fmla="val 4348"/>
            </a:avLst>
          </a:prstGeom>
          <a:solidFill>
            <a:srgbClr val="0B1F3A"/>
          </a:solidFill>
          <a:ln/>
        </p:spPr>
      </p:sp>
      <p:sp>
        <p:nvSpPr>
          <p:cNvPr id="19" name="Text 16"/>
          <p:cNvSpPr/>
          <p:nvPr/>
        </p:nvSpPr>
        <p:spPr>
          <a:xfrm>
            <a:off x="4946904"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Apply firmware updates promptly and retire unsupported legacy devices</a:t>
            </a:r>
            <a:endParaRPr lang="en-US" sz="1050" dirty="0"/>
          </a:p>
        </p:txBody>
      </p:sp>
      <p:sp>
        <p:nvSpPr>
          <p:cNvPr id="20" name="Shape 17"/>
          <p:cNvSpPr/>
          <p:nvPr/>
        </p:nvSpPr>
        <p:spPr>
          <a:xfrm>
            <a:off x="7086600" y="1691640"/>
            <a:ext cx="4526280" cy="4160520"/>
          </a:xfrm>
          <a:prstGeom prst="roundRect">
            <a:avLst>
              <a:gd name="adj" fmla="val 1978"/>
            </a:avLst>
          </a:prstGeom>
          <a:solidFill>
            <a:srgbClr val="13294B"/>
          </a:solidFill>
          <a:ln/>
        </p:spPr>
      </p:sp>
      <p:sp>
        <p:nvSpPr>
          <p:cNvPr id="21" name="Text 18"/>
          <p:cNvSpPr/>
          <p:nvPr/>
        </p:nvSpPr>
        <p:spPr>
          <a:xfrm>
            <a:off x="7360920" y="1874520"/>
            <a:ext cx="4023360" cy="274320"/>
          </a:xfrm>
          <a:prstGeom prst="rect">
            <a:avLst/>
          </a:prstGeom>
          <a:noFill/>
          <a:ln/>
        </p:spPr>
        <p:txBody>
          <a:bodyPr wrap="square" rtlCol="0" anchor="ctr"/>
          <a:lstStyle/>
          <a:p>
            <a:pPr marL="0" indent="0">
              <a:buNone/>
            </a:pPr>
            <a:r>
              <a:rPr lang="en-US" sz="1050" b="1" kern="0" spc="150" dirty="0">
                <a:solidFill>
                  <a:srgbClr val="00D9C0"/>
                </a:solidFill>
                <a:latin typeface="Calibri" pitchFamily="34" charset="0"/>
                <a:ea typeface="Calibri" pitchFamily="34" charset="-122"/>
                <a:cs typeface="Calibri" pitchFamily="34" charset="-120"/>
              </a:rPr>
              <a:t>REAL-WORLD CASE STUDY</a:t>
            </a:r>
            <a:endParaRPr lang="en-US" sz="1050" dirty="0"/>
          </a:p>
        </p:txBody>
      </p:sp>
      <p:sp>
        <p:nvSpPr>
          <p:cNvPr id="22" name="Text 19"/>
          <p:cNvSpPr/>
          <p:nvPr/>
        </p:nvSpPr>
        <p:spPr>
          <a:xfrm>
            <a:off x="7360920" y="2176272"/>
            <a:ext cx="4023360" cy="594360"/>
          </a:xfrm>
          <a:prstGeom prst="rect">
            <a:avLst/>
          </a:prstGeom>
          <a:noFill/>
          <a:ln/>
        </p:spPr>
        <p:txBody>
          <a:bodyPr wrap="square" rtlCol="0" anchor="ctr"/>
          <a:lstStyle/>
          <a:p>
            <a:pPr marL="0" indent="0">
              <a:lnSpc>
                <a:spcPts val="2100"/>
              </a:lnSpc>
              <a:buNone/>
            </a:pPr>
            <a:r>
              <a:rPr lang="en-US" sz="1800" b="1" dirty="0">
                <a:solidFill>
                  <a:srgbClr val="FFFFFF"/>
                </a:solidFill>
                <a:latin typeface="Cambria" pitchFamily="34" charset="0"/>
                <a:ea typeface="Cambria" pitchFamily="34" charset="-122"/>
                <a:cs typeface="Cambria" pitchFamily="34" charset="-120"/>
              </a:rPr>
              <a:t>The Record 5.6 Tbps Mirai-Variant DDoS</a:t>
            </a:r>
            <a:endParaRPr lang="en-US" sz="1800" dirty="0"/>
          </a:p>
        </p:txBody>
      </p:sp>
      <p:sp>
        <p:nvSpPr>
          <p:cNvPr id="23" name="Text 20"/>
          <p:cNvSpPr/>
          <p:nvPr/>
        </p:nvSpPr>
        <p:spPr>
          <a:xfrm>
            <a:off x="7360920" y="2724912"/>
            <a:ext cx="4023360" cy="274320"/>
          </a:xfrm>
          <a:prstGeom prst="rect">
            <a:avLst/>
          </a:prstGeom>
          <a:noFill/>
          <a:ln/>
        </p:spPr>
        <p:txBody>
          <a:bodyPr wrap="square" rtlCol="0" anchor="ctr"/>
          <a:lstStyle/>
          <a:p>
            <a:pPr marL="0" indent="0">
              <a:buNone/>
            </a:pPr>
            <a:r>
              <a:rPr lang="en-US" sz="1100" dirty="0">
                <a:solidFill>
                  <a:srgbClr val="AFC2D9"/>
                </a:solidFill>
                <a:latin typeface="Calibri" pitchFamily="34" charset="0"/>
                <a:ea typeface="Calibri" pitchFamily="34" charset="-122"/>
                <a:cs typeface="Calibri" pitchFamily="34" charset="-120"/>
              </a:rPr>
              <a:t>Global · October 2024</a:t>
            </a:r>
            <a:endParaRPr lang="en-US" sz="1100" dirty="0"/>
          </a:p>
        </p:txBody>
      </p:sp>
      <p:sp>
        <p:nvSpPr>
          <p:cNvPr id="24" name="Shape 21"/>
          <p:cNvSpPr/>
          <p:nvPr/>
        </p:nvSpPr>
        <p:spPr>
          <a:xfrm>
            <a:off x="7360920" y="3090672"/>
            <a:ext cx="3977640" cy="0"/>
          </a:xfrm>
          <a:prstGeom prst="line">
            <a:avLst/>
          </a:prstGeom>
          <a:noFill/>
          <a:ln w="12700">
            <a:solidFill>
              <a:srgbClr val="1C3660"/>
            </a:solidFill>
            <a:prstDash val="solid"/>
          </a:ln>
        </p:spPr>
      </p:sp>
      <p:sp>
        <p:nvSpPr>
          <p:cNvPr id="25" name="Text 22"/>
          <p:cNvSpPr/>
          <p:nvPr/>
        </p:nvSpPr>
        <p:spPr>
          <a:xfrm>
            <a:off x="7360920" y="3246120"/>
            <a:ext cx="4023360" cy="1463040"/>
          </a:xfrm>
          <a:prstGeom prst="rect">
            <a:avLst/>
          </a:prstGeom>
          <a:noFill/>
          <a:ln/>
        </p:spPr>
        <p:txBody>
          <a:bodyPr wrap="square" rtlCol="0" anchor="ctr"/>
          <a:lstStyle/>
          <a:p>
            <a:pPr marL="0" indent="0">
              <a:lnSpc>
                <a:spcPts val="1550"/>
              </a:lnSpc>
              <a:buNone/>
            </a:pPr>
            <a:r>
              <a:rPr lang="en-US" sz="1150" dirty="0">
                <a:solidFill>
                  <a:srgbClr val="AFC2D9"/>
                </a:solidFill>
                <a:latin typeface="Calibri" pitchFamily="34" charset="0"/>
                <a:ea typeface="Calibri" pitchFamily="34" charset="-122"/>
                <a:cs typeface="Calibri" pitchFamily="34" charset="-120"/>
              </a:rPr>
              <a:t>A Mirai-variant botnet built from over 13,000 hijacked IoT devices — cameras, routers, and other connected hardware — flooded a target ISP with traffic in the largest volumetric DDoS attack Cloudflare had recorded, lasting just 80 seconds.</a:t>
            </a:r>
            <a:endParaRPr lang="en-US" sz="1150" dirty="0"/>
          </a:p>
        </p:txBody>
      </p:sp>
      <p:sp>
        <p:nvSpPr>
          <p:cNvPr id="26" name="Shape 23"/>
          <p:cNvSpPr/>
          <p:nvPr/>
        </p:nvSpPr>
        <p:spPr>
          <a:xfrm>
            <a:off x="7360920" y="4754880"/>
            <a:ext cx="3977640" cy="960120"/>
          </a:xfrm>
          <a:prstGeom prst="roundRect">
            <a:avLst>
              <a:gd name="adj" fmla="val 5714"/>
            </a:avLst>
          </a:prstGeom>
          <a:solidFill>
            <a:srgbClr val="1C3660"/>
          </a:solidFill>
          <a:ln/>
        </p:spPr>
      </p:sp>
      <p:sp>
        <p:nvSpPr>
          <p:cNvPr id="27" name="Text 24"/>
          <p:cNvSpPr/>
          <p:nvPr/>
        </p:nvSpPr>
        <p:spPr>
          <a:xfrm>
            <a:off x="7543800" y="4846320"/>
            <a:ext cx="3611880" cy="411480"/>
          </a:xfrm>
          <a:prstGeom prst="rect">
            <a:avLst/>
          </a:prstGeom>
          <a:noFill/>
          <a:ln/>
        </p:spPr>
        <p:txBody>
          <a:bodyPr wrap="square" rtlCol="0" anchor="ctr"/>
          <a:lstStyle/>
          <a:p>
            <a:pPr marL="0" indent="0">
              <a:buNone/>
            </a:pPr>
            <a:r>
              <a:rPr lang="en-US" sz="2000" b="1" dirty="0">
                <a:solidFill>
                  <a:srgbClr val="00D9C0"/>
                </a:solidFill>
                <a:latin typeface="Cambria" pitchFamily="34" charset="0"/>
                <a:ea typeface="Cambria" pitchFamily="34" charset="-122"/>
                <a:cs typeface="Cambria" pitchFamily="34" charset="-120"/>
              </a:rPr>
              <a:t>13,000+</a:t>
            </a:r>
            <a:endParaRPr lang="en-US" sz="2000" dirty="0"/>
          </a:p>
        </p:txBody>
      </p:sp>
      <p:sp>
        <p:nvSpPr>
          <p:cNvPr id="28" name="Text 25"/>
          <p:cNvSpPr/>
          <p:nvPr/>
        </p:nvSpPr>
        <p:spPr>
          <a:xfrm>
            <a:off x="7543800" y="5257800"/>
            <a:ext cx="3611880" cy="384048"/>
          </a:xfrm>
          <a:prstGeom prst="rect">
            <a:avLst/>
          </a:prstGeom>
          <a:noFill/>
          <a:ln/>
        </p:spPr>
        <p:txBody>
          <a:bodyPr wrap="square" rtlCol="0" anchor="ctr"/>
          <a:lstStyle/>
          <a:p>
            <a:pPr marL="0" indent="0">
              <a:lnSpc>
                <a:spcPts val="1200"/>
              </a:lnSpc>
              <a:buNone/>
            </a:pPr>
            <a:r>
              <a:rPr lang="en-US" sz="950" dirty="0">
                <a:solidFill>
                  <a:srgbClr val="AFC2D9"/>
                </a:solidFill>
                <a:latin typeface="Calibri" pitchFamily="34" charset="0"/>
                <a:ea typeface="Calibri" pitchFamily="34" charset="-122"/>
                <a:cs typeface="Calibri" pitchFamily="34" charset="-120"/>
              </a:rPr>
              <a:t>compromised IoT devices generating 5.6 terabits per second of attack traffic</a:t>
            </a:r>
            <a:endParaRPr lang="en-US" sz="950" dirty="0"/>
          </a:p>
        </p:txBody>
      </p:sp>
      <p:sp>
        <p:nvSpPr>
          <p:cNvPr id="29" name="Text 26"/>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47C71"/>
                </a:solidFill>
                <a:latin typeface="Calibri" pitchFamily="34" charset="0"/>
                <a:ea typeface="Calibri" pitchFamily="34" charset="-122"/>
                <a:cs typeface="Calibri" pitchFamily="34" charset="-120"/>
              </a:rPr>
              <a:t>02 · THREAT 5 OF 5</a:t>
            </a:r>
            <a:endParaRPr lang="en-US" sz="1200" dirty="0"/>
          </a:p>
        </p:txBody>
      </p:sp>
      <p:sp>
        <p:nvSpPr>
          <p:cNvPr id="3" name="Text 1"/>
          <p:cNvSpPr/>
          <p:nvPr/>
        </p:nvSpPr>
        <p:spPr>
          <a:xfrm>
            <a:off x="9692640" y="384048"/>
            <a:ext cx="1920240" cy="292608"/>
          </a:xfrm>
          <a:prstGeom prst="rect">
            <a:avLst/>
          </a:prstGeom>
          <a:solidFill>
            <a:srgbClr val="D68910"/>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UNPATCHED RISK</a:t>
            </a:r>
            <a:endParaRPr lang="en-US" sz="1100" dirty="0"/>
          </a:p>
        </p:txBody>
      </p:sp>
      <p:sp>
        <p:nvSpPr>
          <p:cNvPr id="4" name="Shape 2"/>
          <p:cNvSpPr/>
          <p:nvPr/>
        </p:nvSpPr>
        <p:spPr>
          <a:xfrm>
            <a:off x="548640" y="713232"/>
            <a:ext cx="594360" cy="594360"/>
          </a:xfrm>
          <a:prstGeom prst="ellipse">
            <a:avLst/>
          </a:prstGeom>
          <a:solidFill>
            <a:srgbClr val="0B1F3A"/>
          </a:solidFill>
          <a:ln/>
        </p:spPr>
      </p:sp>
      <p:pic>
        <p:nvPicPr>
          <p:cNvPr id="5" name="Image 0" descr="/home/claude/deck/icon_bug.png"/>
          <p:cNvPicPr>
            <a:picLocks noChangeAspect="1"/>
          </p:cNvPicPr>
          <p:nvPr/>
        </p:nvPicPr>
        <p:blipFill>
          <a:blip r:embed="rId3"/>
          <a:stretch>
            <a:fillRect/>
          </a:stretch>
        </p:blipFill>
        <p:spPr>
          <a:xfrm>
            <a:off x="685800" y="850392"/>
            <a:ext cx="320040" cy="320040"/>
          </a:xfrm>
          <a:prstGeom prst="rect">
            <a:avLst/>
          </a:prstGeom>
        </p:spPr>
      </p:pic>
      <p:sp>
        <p:nvSpPr>
          <p:cNvPr id="6" name="Text 3"/>
          <p:cNvSpPr/>
          <p:nvPr/>
        </p:nvSpPr>
        <p:spPr>
          <a:xfrm>
            <a:off x="1280160" y="658368"/>
            <a:ext cx="7772400" cy="457200"/>
          </a:xfrm>
          <a:prstGeom prst="rect">
            <a:avLst/>
          </a:prstGeom>
          <a:noFill/>
          <a:ln/>
        </p:spPr>
        <p:txBody>
          <a:bodyPr wrap="square" rtlCol="0" anchor="ctr"/>
          <a:lstStyle/>
          <a:p>
            <a:pPr marL="0" indent="0">
              <a:buNone/>
            </a:pPr>
            <a:r>
              <a:rPr lang="en-US" sz="2500" b="1" dirty="0">
                <a:solidFill>
                  <a:srgbClr val="16233A"/>
                </a:solidFill>
                <a:latin typeface="Cambria" pitchFamily="34" charset="0"/>
                <a:ea typeface="Cambria" pitchFamily="34" charset="-122"/>
                <a:cs typeface="Cambria" pitchFamily="34" charset="-120"/>
              </a:rPr>
              <a:t>Zero-Day Exploits</a:t>
            </a:r>
            <a:endParaRPr lang="en-US" sz="2500" dirty="0"/>
          </a:p>
        </p:txBody>
      </p:sp>
      <p:sp>
        <p:nvSpPr>
          <p:cNvPr id="7" name="Text 4"/>
          <p:cNvSpPr/>
          <p:nvPr/>
        </p:nvSpPr>
        <p:spPr>
          <a:xfrm>
            <a:off x="1280160" y="1097280"/>
            <a:ext cx="9509760" cy="365760"/>
          </a:xfrm>
          <a:prstGeom prst="rect">
            <a:avLst/>
          </a:prstGeom>
          <a:noFill/>
          <a:ln/>
        </p:spPr>
        <p:txBody>
          <a:bodyPr wrap="square" rtlCol="0" anchor="ctr"/>
          <a:lstStyle/>
          <a:p>
            <a:pPr marL="0" indent="0">
              <a:buNone/>
            </a:pPr>
            <a:r>
              <a:rPr lang="en-US" sz="1250" i="1" dirty="0">
                <a:solidFill>
                  <a:srgbClr val="5B6B82"/>
                </a:solidFill>
                <a:latin typeface="Calibri" pitchFamily="34" charset="0"/>
                <a:ea typeface="Calibri" pitchFamily="34" charset="-122"/>
                <a:cs typeface="Calibri" pitchFamily="34" charset="-120"/>
              </a:rPr>
              <a:t>Vulnerabilities attackers find before vendors do — and before any patch exists.</a:t>
            </a:r>
            <a:endParaRPr lang="en-US" sz="1250" dirty="0"/>
          </a:p>
        </p:txBody>
      </p:sp>
      <p:sp>
        <p:nvSpPr>
          <p:cNvPr id="8" name="Text 5"/>
          <p:cNvSpPr/>
          <p:nvPr/>
        </p:nvSpPr>
        <p:spPr>
          <a:xfrm>
            <a:off x="548640" y="1691640"/>
            <a:ext cx="6309360" cy="1188720"/>
          </a:xfrm>
          <a:prstGeom prst="rect">
            <a:avLst/>
          </a:prstGeom>
          <a:noFill/>
          <a:ln/>
        </p:spPr>
        <p:txBody>
          <a:bodyPr wrap="square" rtlCol="0" anchor="ctr"/>
          <a:lstStyle/>
          <a:p>
            <a:pPr marL="0" indent="0">
              <a:lnSpc>
                <a:spcPts val="1700"/>
              </a:lnSpc>
              <a:buNone/>
            </a:pPr>
            <a:r>
              <a:rPr lang="en-US" sz="1250" dirty="0">
                <a:solidFill>
                  <a:srgbClr val="16233A"/>
                </a:solidFill>
                <a:latin typeface="Calibri" pitchFamily="34" charset="0"/>
                <a:ea typeface="Calibri" pitchFamily="34" charset="-122"/>
                <a:cs typeface="Calibri" pitchFamily="34" charset="-120"/>
              </a:rPr>
              <a:t>A zero-day is a flaw exploited before the vendor is even aware of it, let alone has released a fix. Because no patch exists, these exploits are prized by criminal groups and often used against widely deployed enterprise software.</a:t>
            </a:r>
            <a:endParaRPr lang="en-US" sz="1250" dirty="0"/>
          </a:p>
        </p:txBody>
      </p:sp>
      <p:sp>
        <p:nvSpPr>
          <p:cNvPr id="9" name="Text 6"/>
          <p:cNvSpPr/>
          <p:nvPr/>
        </p:nvSpPr>
        <p:spPr>
          <a:xfrm>
            <a:off x="548640" y="2926080"/>
            <a:ext cx="2743200" cy="274320"/>
          </a:xfrm>
          <a:prstGeom prst="rect">
            <a:avLst/>
          </a:prstGeom>
          <a:noFill/>
          <a:ln/>
        </p:spPr>
        <p:txBody>
          <a:bodyPr wrap="square" rtlCol="0" anchor="ctr"/>
          <a:lstStyle/>
          <a:p>
            <a:pPr marL="0" indent="0">
              <a:buNone/>
            </a:pPr>
            <a:r>
              <a:rPr lang="en-US" sz="1100" b="1" kern="0" spc="150" dirty="0">
                <a:solidFill>
                  <a:srgbClr val="047C71"/>
                </a:solidFill>
                <a:latin typeface="Calibri" pitchFamily="34" charset="0"/>
                <a:ea typeface="Calibri" pitchFamily="34" charset="-122"/>
                <a:cs typeface="Calibri" pitchFamily="34" charset="-120"/>
              </a:rPr>
              <a:t>IMPACT</a:t>
            </a:r>
            <a:endParaRPr lang="en-US" sz="1100" dirty="0"/>
          </a:p>
        </p:txBody>
      </p:sp>
      <p:sp>
        <p:nvSpPr>
          <p:cNvPr id="10" name="Shape 7"/>
          <p:cNvSpPr/>
          <p:nvPr/>
        </p:nvSpPr>
        <p:spPr>
          <a:xfrm>
            <a:off x="548640" y="3246120"/>
            <a:ext cx="6309360" cy="868680"/>
          </a:xfrm>
          <a:prstGeom prst="roundRect">
            <a:avLst>
              <a:gd name="adj" fmla="val 6316"/>
            </a:avLst>
          </a:prstGeom>
          <a:solidFill>
            <a:srgbClr val="F3F6FA"/>
          </a:solidFill>
          <a:ln/>
        </p:spPr>
      </p:sp>
      <p:sp>
        <p:nvSpPr>
          <p:cNvPr id="11" name="Text 8"/>
          <p:cNvSpPr/>
          <p:nvPr/>
        </p:nvSpPr>
        <p:spPr>
          <a:xfrm>
            <a:off x="749808" y="3346704"/>
            <a:ext cx="5897880" cy="411480"/>
          </a:xfrm>
          <a:prstGeom prst="rect">
            <a:avLst/>
          </a:prstGeom>
          <a:noFill/>
          <a:ln/>
        </p:spPr>
        <p:txBody>
          <a:bodyPr wrap="square" rtlCol="0" anchor="ctr"/>
          <a:lstStyle/>
          <a:p>
            <a:pPr marL="0" indent="0">
              <a:lnSpc>
                <a:spcPts val="1400"/>
              </a:lnSpc>
              <a:buNone/>
            </a:pPr>
            <a:r>
              <a:rPr lang="en-US" sz="1150" b="1" dirty="0">
                <a:solidFill>
                  <a:srgbClr val="16233A"/>
                </a:solidFill>
                <a:latin typeface="Calibri" pitchFamily="34" charset="0"/>
                <a:ea typeface="Calibri" pitchFamily="34" charset="-122"/>
                <a:cs typeface="Calibri" pitchFamily="34" charset="-120"/>
              </a:rPr>
              <a:t>Individuals:  </a:t>
            </a:r>
            <a:r>
              <a:rPr lang="en-US" sz="1150" dirty="0">
                <a:solidFill>
                  <a:srgbClr val="5B6B82"/>
                </a:solidFill>
                <a:latin typeface="Calibri" pitchFamily="34" charset="0"/>
                <a:ea typeface="Calibri" pitchFamily="34" charset="-122"/>
                <a:cs typeface="Calibri" pitchFamily="34" charset="-120"/>
              </a:rPr>
              <a:t>personal data swept up in mass third-party breaches through services they never chose.</a:t>
            </a:r>
            <a:endParaRPr lang="en-US" sz="1150" dirty="0"/>
          </a:p>
        </p:txBody>
      </p:sp>
      <p:sp>
        <p:nvSpPr>
          <p:cNvPr id="12" name="Text 9"/>
          <p:cNvSpPr/>
          <p:nvPr/>
        </p:nvSpPr>
        <p:spPr>
          <a:xfrm>
            <a:off x="749808" y="3730752"/>
            <a:ext cx="5897880" cy="411480"/>
          </a:xfrm>
          <a:prstGeom prst="rect">
            <a:avLst/>
          </a:prstGeom>
          <a:noFill/>
          <a:ln/>
        </p:spPr>
        <p:txBody>
          <a:bodyPr wrap="square" rtlCol="0" anchor="ctr"/>
          <a:lstStyle/>
          <a:p>
            <a:pPr marL="0" indent="0">
              <a:lnSpc>
                <a:spcPts val="1400"/>
              </a:lnSpc>
              <a:buNone/>
            </a:pPr>
            <a:r>
              <a:rPr lang="en-US" sz="1150" b="1" dirty="0">
                <a:solidFill>
                  <a:srgbClr val="16233A"/>
                </a:solidFill>
                <a:latin typeface="Calibri" pitchFamily="34" charset="0"/>
                <a:ea typeface="Calibri" pitchFamily="34" charset="-122"/>
                <a:cs typeface="Calibri" pitchFamily="34" charset="-120"/>
              </a:rPr>
              <a:t>Organizations:  </a:t>
            </a:r>
            <a:r>
              <a:rPr lang="en-US" sz="1150" dirty="0">
                <a:solidFill>
                  <a:srgbClr val="5B6B82"/>
                </a:solidFill>
                <a:latin typeface="Calibri" pitchFamily="34" charset="0"/>
                <a:ea typeface="Calibri" pitchFamily="34" charset="-122"/>
                <a:cs typeface="Calibri" pitchFamily="34" charset="-120"/>
              </a:rPr>
              <a:t>sudden compromise with no available patch, forcing emergency response under pressure.</a:t>
            </a:r>
            <a:endParaRPr lang="en-US" sz="1150" dirty="0"/>
          </a:p>
        </p:txBody>
      </p:sp>
      <p:sp>
        <p:nvSpPr>
          <p:cNvPr id="13" name="Text 10"/>
          <p:cNvSpPr/>
          <p:nvPr/>
        </p:nvSpPr>
        <p:spPr>
          <a:xfrm>
            <a:off x="548640" y="4279392"/>
            <a:ext cx="3657600" cy="274320"/>
          </a:xfrm>
          <a:prstGeom prst="rect">
            <a:avLst/>
          </a:prstGeom>
          <a:noFill/>
          <a:ln/>
        </p:spPr>
        <p:txBody>
          <a:bodyPr wrap="square" rtlCol="0" anchor="ctr"/>
          <a:lstStyle/>
          <a:p>
            <a:pPr marL="0" indent="0">
              <a:buNone/>
            </a:pPr>
            <a:r>
              <a:rPr lang="en-US" sz="1100" b="1" kern="0" spc="150" dirty="0">
                <a:solidFill>
                  <a:srgbClr val="047C71"/>
                </a:solidFill>
                <a:latin typeface="Calibri" pitchFamily="34" charset="0"/>
                <a:ea typeface="Calibri" pitchFamily="34" charset="-122"/>
                <a:cs typeface="Calibri" pitchFamily="34" charset="-120"/>
              </a:rPr>
              <a:t>PREVENTIVE MEASURES</a:t>
            </a:r>
            <a:endParaRPr lang="en-US" sz="1100" dirty="0"/>
          </a:p>
        </p:txBody>
      </p:sp>
      <p:sp>
        <p:nvSpPr>
          <p:cNvPr id="14" name="Shape 11"/>
          <p:cNvSpPr/>
          <p:nvPr/>
        </p:nvSpPr>
        <p:spPr>
          <a:xfrm>
            <a:off x="548640" y="4590288"/>
            <a:ext cx="2039112" cy="1261872"/>
          </a:xfrm>
          <a:prstGeom prst="roundRect">
            <a:avLst>
              <a:gd name="adj" fmla="val 4348"/>
            </a:avLst>
          </a:prstGeom>
          <a:solidFill>
            <a:srgbClr val="0B1F3A"/>
          </a:solidFill>
          <a:ln/>
        </p:spPr>
      </p:sp>
      <p:sp>
        <p:nvSpPr>
          <p:cNvPr id="15" name="Text 12"/>
          <p:cNvSpPr/>
          <p:nvPr/>
        </p:nvSpPr>
        <p:spPr>
          <a:xfrm>
            <a:off x="685800"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Layered defenses (IDS/IPS, WAF) that catch anomalous behavior, not just known signatures</a:t>
            </a:r>
            <a:endParaRPr lang="en-US" sz="1050" dirty="0"/>
          </a:p>
        </p:txBody>
      </p:sp>
      <p:sp>
        <p:nvSpPr>
          <p:cNvPr id="16" name="Shape 13"/>
          <p:cNvSpPr/>
          <p:nvPr/>
        </p:nvSpPr>
        <p:spPr>
          <a:xfrm>
            <a:off x="2679192" y="4590288"/>
            <a:ext cx="2039112" cy="1261872"/>
          </a:xfrm>
          <a:prstGeom prst="roundRect">
            <a:avLst>
              <a:gd name="adj" fmla="val 4348"/>
            </a:avLst>
          </a:prstGeom>
          <a:solidFill>
            <a:srgbClr val="0B1F3A"/>
          </a:solidFill>
          <a:ln/>
        </p:spPr>
      </p:sp>
      <p:sp>
        <p:nvSpPr>
          <p:cNvPr id="17" name="Text 14"/>
          <p:cNvSpPr/>
          <p:nvPr/>
        </p:nvSpPr>
        <p:spPr>
          <a:xfrm>
            <a:off x="2816352"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Rapid patch-management process to close vulnerabilities the moment fixes ship</a:t>
            </a:r>
            <a:endParaRPr lang="en-US" sz="1050" dirty="0"/>
          </a:p>
        </p:txBody>
      </p:sp>
      <p:sp>
        <p:nvSpPr>
          <p:cNvPr id="18" name="Shape 15"/>
          <p:cNvSpPr/>
          <p:nvPr/>
        </p:nvSpPr>
        <p:spPr>
          <a:xfrm>
            <a:off x="4809744" y="4590288"/>
            <a:ext cx="2039112" cy="1261872"/>
          </a:xfrm>
          <a:prstGeom prst="roundRect">
            <a:avLst>
              <a:gd name="adj" fmla="val 4348"/>
            </a:avLst>
          </a:prstGeom>
          <a:solidFill>
            <a:srgbClr val="0B1F3A"/>
          </a:solidFill>
          <a:ln/>
        </p:spPr>
      </p:sp>
      <p:sp>
        <p:nvSpPr>
          <p:cNvPr id="19" name="Text 16"/>
          <p:cNvSpPr/>
          <p:nvPr/>
        </p:nvSpPr>
        <p:spPr>
          <a:xfrm>
            <a:off x="4946904" y="4690872"/>
            <a:ext cx="1764792" cy="1060704"/>
          </a:xfrm>
          <a:prstGeom prst="rect">
            <a:avLst/>
          </a:prstGeom>
          <a:noFill/>
          <a:ln/>
        </p:spPr>
        <p:txBody>
          <a:bodyPr wrap="square" rtlCol="0" anchor="t"/>
          <a:lstStyle/>
          <a:p>
            <a:pPr marL="0" indent="0">
              <a:lnSpc>
                <a:spcPts val="1300"/>
              </a:lnSpc>
              <a:buNone/>
            </a:pPr>
            <a:r>
              <a:rPr lang="en-US" sz="1050" dirty="0">
                <a:solidFill>
                  <a:srgbClr val="FFFFFF"/>
                </a:solidFill>
                <a:latin typeface="Calibri" pitchFamily="34" charset="0"/>
                <a:ea typeface="Calibri" pitchFamily="34" charset="-122"/>
                <a:cs typeface="Calibri" pitchFamily="34" charset="-120"/>
              </a:rPr>
              <a:t>Minimize internet-exposed attack surface for file-transfer and admin systems</a:t>
            </a:r>
            <a:endParaRPr lang="en-US" sz="1050" dirty="0"/>
          </a:p>
        </p:txBody>
      </p:sp>
      <p:sp>
        <p:nvSpPr>
          <p:cNvPr id="20" name="Shape 17"/>
          <p:cNvSpPr/>
          <p:nvPr/>
        </p:nvSpPr>
        <p:spPr>
          <a:xfrm>
            <a:off x="7086600" y="1691640"/>
            <a:ext cx="4526280" cy="4160520"/>
          </a:xfrm>
          <a:prstGeom prst="roundRect">
            <a:avLst>
              <a:gd name="adj" fmla="val 1978"/>
            </a:avLst>
          </a:prstGeom>
          <a:solidFill>
            <a:srgbClr val="13294B"/>
          </a:solidFill>
          <a:ln/>
        </p:spPr>
      </p:sp>
      <p:sp>
        <p:nvSpPr>
          <p:cNvPr id="21" name="Text 18"/>
          <p:cNvSpPr/>
          <p:nvPr/>
        </p:nvSpPr>
        <p:spPr>
          <a:xfrm>
            <a:off x="7360920" y="1874520"/>
            <a:ext cx="4023360" cy="274320"/>
          </a:xfrm>
          <a:prstGeom prst="rect">
            <a:avLst/>
          </a:prstGeom>
          <a:noFill/>
          <a:ln/>
        </p:spPr>
        <p:txBody>
          <a:bodyPr wrap="square" rtlCol="0" anchor="ctr"/>
          <a:lstStyle/>
          <a:p>
            <a:pPr marL="0" indent="0">
              <a:buNone/>
            </a:pPr>
            <a:r>
              <a:rPr lang="en-US" sz="1050" b="1" kern="0" spc="150" dirty="0">
                <a:solidFill>
                  <a:srgbClr val="00D9C0"/>
                </a:solidFill>
                <a:latin typeface="Calibri" pitchFamily="34" charset="0"/>
                <a:ea typeface="Calibri" pitchFamily="34" charset="-122"/>
                <a:cs typeface="Calibri" pitchFamily="34" charset="-120"/>
              </a:rPr>
              <a:t>REAL-WORLD CASE STUDY</a:t>
            </a:r>
            <a:endParaRPr lang="en-US" sz="1050" dirty="0"/>
          </a:p>
        </p:txBody>
      </p:sp>
      <p:sp>
        <p:nvSpPr>
          <p:cNvPr id="22" name="Text 19"/>
          <p:cNvSpPr/>
          <p:nvPr/>
        </p:nvSpPr>
        <p:spPr>
          <a:xfrm>
            <a:off x="7360920" y="2176272"/>
            <a:ext cx="4023360" cy="594360"/>
          </a:xfrm>
          <a:prstGeom prst="rect">
            <a:avLst/>
          </a:prstGeom>
          <a:noFill/>
          <a:ln/>
        </p:spPr>
        <p:txBody>
          <a:bodyPr wrap="square" rtlCol="0" anchor="ctr"/>
          <a:lstStyle/>
          <a:p>
            <a:pPr marL="0" indent="0">
              <a:lnSpc>
                <a:spcPts val="2100"/>
              </a:lnSpc>
              <a:buNone/>
            </a:pPr>
            <a:r>
              <a:rPr lang="en-US" sz="1800" b="1" dirty="0">
                <a:solidFill>
                  <a:srgbClr val="FFFFFF"/>
                </a:solidFill>
                <a:latin typeface="Cambria" pitchFamily="34" charset="0"/>
                <a:ea typeface="Cambria" pitchFamily="34" charset="-122"/>
                <a:cs typeface="Cambria" pitchFamily="34" charset="-120"/>
              </a:rPr>
              <a:t>The MOVEit Transfer Mass Breach</a:t>
            </a:r>
            <a:endParaRPr lang="en-US" sz="1800" dirty="0"/>
          </a:p>
        </p:txBody>
      </p:sp>
      <p:sp>
        <p:nvSpPr>
          <p:cNvPr id="23" name="Text 20"/>
          <p:cNvSpPr/>
          <p:nvPr/>
        </p:nvSpPr>
        <p:spPr>
          <a:xfrm>
            <a:off x="7360920" y="2724912"/>
            <a:ext cx="4023360" cy="274320"/>
          </a:xfrm>
          <a:prstGeom prst="rect">
            <a:avLst/>
          </a:prstGeom>
          <a:noFill/>
          <a:ln/>
        </p:spPr>
        <p:txBody>
          <a:bodyPr wrap="square" rtlCol="0" anchor="ctr"/>
          <a:lstStyle/>
          <a:p>
            <a:pPr marL="0" indent="0">
              <a:buNone/>
            </a:pPr>
            <a:r>
              <a:rPr lang="en-US" sz="1100" dirty="0">
                <a:solidFill>
                  <a:srgbClr val="AFC2D9"/>
                </a:solidFill>
                <a:latin typeface="Calibri" pitchFamily="34" charset="0"/>
                <a:ea typeface="Calibri" pitchFamily="34" charset="-122"/>
                <a:cs typeface="Calibri" pitchFamily="34" charset="-120"/>
              </a:rPr>
              <a:t>Global · May 2023 – 2024</a:t>
            </a:r>
            <a:endParaRPr lang="en-US" sz="1100" dirty="0"/>
          </a:p>
        </p:txBody>
      </p:sp>
      <p:sp>
        <p:nvSpPr>
          <p:cNvPr id="24" name="Shape 21"/>
          <p:cNvSpPr/>
          <p:nvPr/>
        </p:nvSpPr>
        <p:spPr>
          <a:xfrm>
            <a:off x="7360920" y="3090672"/>
            <a:ext cx="3977640" cy="0"/>
          </a:xfrm>
          <a:prstGeom prst="line">
            <a:avLst/>
          </a:prstGeom>
          <a:noFill/>
          <a:ln w="12700">
            <a:solidFill>
              <a:srgbClr val="1C3660"/>
            </a:solidFill>
            <a:prstDash val="solid"/>
          </a:ln>
        </p:spPr>
      </p:sp>
      <p:sp>
        <p:nvSpPr>
          <p:cNvPr id="25" name="Text 22"/>
          <p:cNvSpPr/>
          <p:nvPr/>
        </p:nvSpPr>
        <p:spPr>
          <a:xfrm>
            <a:off x="7360920" y="3246120"/>
            <a:ext cx="4023360" cy="1463040"/>
          </a:xfrm>
          <a:prstGeom prst="rect">
            <a:avLst/>
          </a:prstGeom>
          <a:noFill/>
          <a:ln/>
        </p:spPr>
        <p:txBody>
          <a:bodyPr wrap="square" rtlCol="0" anchor="ctr"/>
          <a:lstStyle/>
          <a:p>
            <a:pPr marL="0" indent="0">
              <a:lnSpc>
                <a:spcPts val="1550"/>
              </a:lnSpc>
              <a:buNone/>
            </a:pPr>
            <a:r>
              <a:rPr lang="en-US" sz="1150" dirty="0">
                <a:solidFill>
                  <a:srgbClr val="AFC2D9"/>
                </a:solidFill>
                <a:latin typeface="Calibri" pitchFamily="34" charset="0"/>
                <a:ea typeface="Calibri" pitchFamily="34" charset="-122"/>
                <a:cs typeface="Calibri" pitchFamily="34" charset="-120"/>
              </a:rPr>
              <a:t>The Cl0p ransomware group exploited an unknown SQL-injection flaw in MOVEit file-transfer software to steal data from organizations worldwide, including government agencies, airlines, and payroll providers, before a patch was even possible.</a:t>
            </a:r>
            <a:endParaRPr lang="en-US" sz="1150" dirty="0"/>
          </a:p>
        </p:txBody>
      </p:sp>
      <p:sp>
        <p:nvSpPr>
          <p:cNvPr id="26" name="Shape 23"/>
          <p:cNvSpPr/>
          <p:nvPr/>
        </p:nvSpPr>
        <p:spPr>
          <a:xfrm>
            <a:off x="7360920" y="4754880"/>
            <a:ext cx="3977640" cy="960120"/>
          </a:xfrm>
          <a:prstGeom prst="roundRect">
            <a:avLst>
              <a:gd name="adj" fmla="val 5714"/>
            </a:avLst>
          </a:prstGeom>
          <a:solidFill>
            <a:srgbClr val="1C3660"/>
          </a:solidFill>
          <a:ln/>
        </p:spPr>
      </p:sp>
      <p:sp>
        <p:nvSpPr>
          <p:cNvPr id="27" name="Text 24"/>
          <p:cNvSpPr/>
          <p:nvPr/>
        </p:nvSpPr>
        <p:spPr>
          <a:xfrm>
            <a:off x="7543800" y="4846320"/>
            <a:ext cx="3611880" cy="411480"/>
          </a:xfrm>
          <a:prstGeom prst="rect">
            <a:avLst/>
          </a:prstGeom>
          <a:noFill/>
          <a:ln/>
        </p:spPr>
        <p:txBody>
          <a:bodyPr wrap="square" rtlCol="0" anchor="ctr"/>
          <a:lstStyle/>
          <a:p>
            <a:pPr marL="0" indent="0">
              <a:buNone/>
            </a:pPr>
            <a:r>
              <a:rPr lang="en-US" sz="2000" b="1" dirty="0">
                <a:solidFill>
                  <a:srgbClr val="00D9C0"/>
                </a:solidFill>
                <a:latin typeface="Cambria" pitchFamily="34" charset="0"/>
                <a:ea typeface="Cambria" pitchFamily="34" charset="-122"/>
                <a:cs typeface="Cambria" pitchFamily="34" charset="-120"/>
              </a:rPr>
              <a:t>2,700+</a:t>
            </a:r>
            <a:endParaRPr lang="en-US" sz="2000" dirty="0"/>
          </a:p>
        </p:txBody>
      </p:sp>
      <p:sp>
        <p:nvSpPr>
          <p:cNvPr id="28" name="Text 25"/>
          <p:cNvSpPr/>
          <p:nvPr/>
        </p:nvSpPr>
        <p:spPr>
          <a:xfrm>
            <a:off x="7543800" y="5257800"/>
            <a:ext cx="3611880" cy="384048"/>
          </a:xfrm>
          <a:prstGeom prst="rect">
            <a:avLst/>
          </a:prstGeom>
          <a:noFill/>
          <a:ln/>
        </p:spPr>
        <p:txBody>
          <a:bodyPr wrap="square" rtlCol="0" anchor="ctr"/>
          <a:lstStyle/>
          <a:p>
            <a:pPr marL="0" indent="0">
              <a:lnSpc>
                <a:spcPts val="1200"/>
              </a:lnSpc>
              <a:buNone/>
            </a:pPr>
            <a:r>
              <a:rPr lang="en-US" sz="950" dirty="0">
                <a:solidFill>
                  <a:srgbClr val="AFC2D9"/>
                </a:solidFill>
                <a:latin typeface="Calibri" pitchFamily="34" charset="0"/>
                <a:ea typeface="Calibri" pitchFamily="34" charset="-122"/>
                <a:cs typeface="Calibri" pitchFamily="34" charset="-120"/>
              </a:rPr>
              <a:t>organizations and tens of millions of individuals affected downstream</a:t>
            </a:r>
            <a:endParaRPr lang="en-US" sz="950" dirty="0"/>
          </a:p>
        </p:txBody>
      </p:sp>
      <p:sp>
        <p:nvSpPr>
          <p:cNvPr id="29" name="Text 26"/>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47C71"/>
                </a:solidFill>
                <a:latin typeface="Calibri" pitchFamily="34" charset="0"/>
                <a:ea typeface="Calibri" pitchFamily="34" charset="-122"/>
                <a:cs typeface="Calibri" pitchFamily="34" charset="-120"/>
              </a:rPr>
              <a:t>03 · DEFENSE STRATEGY</a:t>
            </a:r>
            <a:endParaRPr lang="en-US" sz="1200" dirty="0"/>
          </a:p>
        </p:txBody>
      </p:sp>
      <p:sp>
        <p:nvSpPr>
          <p:cNvPr id="3" name="Text 1"/>
          <p:cNvSpPr/>
          <p:nvPr/>
        </p:nvSpPr>
        <p:spPr>
          <a:xfrm>
            <a:off x="548640" y="685800"/>
            <a:ext cx="9144000" cy="548640"/>
          </a:xfrm>
          <a:prstGeom prst="rect">
            <a:avLst/>
          </a:prstGeom>
          <a:noFill/>
          <a:ln/>
        </p:spPr>
        <p:txBody>
          <a:bodyPr wrap="square"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Matching Every Threat to Its Core Defenses</a:t>
            </a:r>
            <a:endParaRPr lang="en-US" sz="3000" dirty="0"/>
          </a:p>
        </p:txBody>
      </p:sp>
      <p:sp>
        <p:nvSpPr>
          <p:cNvPr id="4" name="Shape 2"/>
          <p:cNvSpPr/>
          <p:nvPr/>
        </p:nvSpPr>
        <p:spPr>
          <a:xfrm>
            <a:off x="548640" y="1554480"/>
            <a:ext cx="11064240" cy="768096"/>
          </a:xfrm>
          <a:prstGeom prst="roundRect">
            <a:avLst>
              <a:gd name="adj" fmla="val 7143"/>
            </a:avLst>
          </a:prstGeom>
          <a:solidFill>
            <a:srgbClr val="F3F6FA"/>
          </a:solidFill>
          <a:ln/>
        </p:spPr>
      </p:sp>
      <p:sp>
        <p:nvSpPr>
          <p:cNvPr id="5" name="Shape 3"/>
          <p:cNvSpPr/>
          <p:nvPr/>
        </p:nvSpPr>
        <p:spPr>
          <a:xfrm>
            <a:off x="749808" y="1682496"/>
            <a:ext cx="512064" cy="512064"/>
          </a:xfrm>
          <a:prstGeom prst="ellipse">
            <a:avLst/>
          </a:prstGeom>
          <a:solidFill>
            <a:srgbClr val="0B1F3A"/>
          </a:solidFill>
          <a:ln/>
        </p:spPr>
      </p:sp>
      <p:pic>
        <p:nvPicPr>
          <p:cNvPr id="6" name="Image 0" descr="/home/claude/deck/icon_usersecret.png"/>
          <p:cNvPicPr>
            <a:picLocks noChangeAspect="1"/>
          </p:cNvPicPr>
          <p:nvPr/>
        </p:nvPicPr>
        <p:blipFill>
          <a:blip r:embed="rId3"/>
          <a:stretch>
            <a:fillRect/>
          </a:stretch>
        </p:blipFill>
        <p:spPr>
          <a:xfrm>
            <a:off x="868680" y="1801368"/>
            <a:ext cx="274320" cy="274320"/>
          </a:xfrm>
          <a:prstGeom prst="rect">
            <a:avLst/>
          </a:prstGeom>
        </p:spPr>
      </p:pic>
      <p:sp>
        <p:nvSpPr>
          <p:cNvPr id="7" name="Text 4"/>
          <p:cNvSpPr/>
          <p:nvPr/>
        </p:nvSpPr>
        <p:spPr>
          <a:xfrm>
            <a:off x="1463040" y="1627632"/>
            <a:ext cx="2834640" cy="621792"/>
          </a:xfrm>
          <a:prstGeom prst="rect">
            <a:avLst/>
          </a:prstGeom>
          <a:noFill/>
          <a:ln/>
        </p:spPr>
        <p:txBody>
          <a:bodyPr wrap="square" rtlCol="0" anchor="ctr"/>
          <a:lstStyle/>
          <a:p>
            <a:pPr marL="0" indent="0">
              <a:buNone/>
            </a:pPr>
            <a:r>
              <a:rPr lang="en-US" sz="1350" b="1" dirty="0">
                <a:solidFill>
                  <a:srgbClr val="16233A"/>
                </a:solidFill>
                <a:latin typeface="Calibri" pitchFamily="34" charset="0"/>
                <a:ea typeface="Calibri" pitchFamily="34" charset="-122"/>
                <a:cs typeface="Calibri" pitchFamily="34" charset="-120"/>
              </a:rPr>
              <a:t>AI-Powered Phishing</a:t>
            </a:r>
            <a:endParaRPr lang="en-US" sz="1350" dirty="0"/>
          </a:p>
        </p:txBody>
      </p:sp>
      <p:sp>
        <p:nvSpPr>
          <p:cNvPr id="8" name="Shape 5"/>
          <p:cNvSpPr/>
          <p:nvPr/>
        </p:nvSpPr>
        <p:spPr>
          <a:xfrm>
            <a:off x="4434840" y="1664208"/>
            <a:ext cx="0" cy="530352"/>
          </a:xfrm>
          <a:prstGeom prst="line">
            <a:avLst/>
          </a:prstGeom>
          <a:noFill/>
          <a:ln w="12700">
            <a:solidFill>
              <a:srgbClr val="E1E7F0"/>
            </a:solidFill>
            <a:prstDash val="solid"/>
          </a:ln>
        </p:spPr>
      </p:sp>
      <p:sp>
        <p:nvSpPr>
          <p:cNvPr id="9" name="Text 6"/>
          <p:cNvSpPr/>
          <p:nvPr/>
        </p:nvSpPr>
        <p:spPr>
          <a:xfrm>
            <a:off x="4663440" y="1627632"/>
            <a:ext cx="6766560" cy="621792"/>
          </a:xfrm>
          <a:prstGeom prst="rect">
            <a:avLst/>
          </a:prstGeom>
          <a:noFill/>
          <a:ln/>
        </p:spPr>
        <p:txBody>
          <a:bodyPr wrap="square" rtlCol="0" anchor="ctr"/>
          <a:lstStyle/>
          <a:p>
            <a:pPr marL="0" indent="0">
              <a:lnSpc>
                <a:spcPts val="1500"/>
              </a:lnSpc>
              <a:buNone/>
            </a:pPr>
            <a:r>
              <a:rPr lang="en-US" sz="1200" dirty="0">
                <a:solidFill>
                  <a:srgbClr val="5B6B82"/>
                </a:solidFill>
                <a:latin typeface="Calibri" pitchFamily="34" charset="0"/>
                <a:ea typeface="Calibri" pitchFamily="34" charset="-122"/>
                <a:cs typeface="Calibri" pitchFamily="34" charset="-120"/>
              </a:rPr>
              <a:t>Out-of-band verification, deepfake-awareness training, AI call/email screening</a:t>
            </a:r>
            <a:endParaRPr lang="en-US" sz="1200" dirty="0"/>
          </a:p>
        </p:txBody>
      </p:sp>
      <p:sp>
        <p:nvSpPr>
          <p:cNvPr id="10" name="Shape 7"/>
          <p:cNvSpPr/>
          <p:nvPr/>
        </p:nvSpPr>
        <p:spPr>
          <a:xfrm>
            <a:off x="548640" y="2450592"/>
            <a:ext cx="11064240" cy="768096"/>
          </a:xfrm>
          <a:prstGeom prst="roundRect">
            <a:avLst>
              <a:gd name="adj" fmla="val 7143"/>
            </a:avLst>
          </a:prstGeom>
          <a:solidFill>
            <a:srgbClr val="F3F6FA"/>
          </a:solidFill>
          <a:ln/>
        </p:spPr>
      </p:sp>
      <p:sp>
        <p:nvSpPr>
          <p:cNvPr id="11" name="Shape 8"/>
          <p:cNvSpPr/>
          <p:nvPr/>
        </p:nvSpPr>
        <p:spPr>
          <a:xfrm>
            <a:off x="749808" y="2578608"/>
            <a:ext cx="512064" cy="512064"/>
          </a:xfrm>
          <a:prstGeom prst="ellipse">
            <a:avLst/>
          </a:prstGeom>
          <a:solidFill>
            <a:srgbClr val="0B1F3A"/>
          </a:solidFill>
          <a:ln/>
        </p:spPr>
      </p:sp>
      <p:pic>
        <p:nvPicPr>
          <p:cNvPr id="12" name="Image 1" descr="/home/claude/deck/icon_lock.png"/>
          <p:cNvPicPr>
            <a:picLocks noChangeAspect="1"/>
          </p:cNvPicPr>
          <p:nvPr/>
        </p:nvPicPr>
        <p:blipFill>
          <a:blip r:embed="rId4"/>
          <a:stretch>
            <a:fillRect/>
          </a:stretch>
        </p:blipFill>
        <p:spPr>
          <a:xfrm>
            <a:off x="868680" y="2697480"/>
            <a:ext cx="274320" cy="274320"/>
          </a:xfrm>
          <a:prstGeom prst="rect">
            <a:avLst/>
          </a:prstGeom>
        </p:spPr>
      </p:pic>
      <p:sp>
        <p:nvSpPr>
          <p:cNvPr id="13" name="Text 9"/>
          <p:cNvSpPr/>
          <p:nvPr/>
        </p:nvSpPr>
        <p:spPr>
          <a:xfrm>
            <a:off x="1463040" y="2523744"/>
            <a:ext cx="2834640" cy="621792"/>
          </a:xfrm>
          <a:prstGeom prst="rect">
            <a:avLst/>
          </a:prstGeom>
          <a:noFill/>
          <a:ln/>
        </p:spPr>
        <p:txBody>
          <a:bodyPr wrap="square" rtlCol="0" anchor="ctr"/>
          <a:lstStyle/>
          <a:p>
            <a:pPr marL="0" indent="0">
              <a:buNone/>
            </a:pPr>
            <a:r>
              <a:rPr lang="en-US" sz="1350" b="1" dirty="0">
                <a:solidFill>
                  <a:srgbClr val="16233A"/>
                </a:solidFill>
                <a:latin typeface="Calibri" pitchFamily="34" charset="0"/>
                <a:ea typeface="Calibri" pitchFamily="34" charset="-122"/>
                <a:cs typeface="Calibri" pitchFamily="34" charset="-120"/>
              </a:rPr>
              <a:t>Ransomware-as-a-Service</a:t>
            </a:r>
            <a:endParaRPr lang="en-US" sz="1350" dirty="0"/>
          </a:p>
        </p:txBody>
      </p:sp>
      <p:sp>
        <p:nvSpPr>
          <p:cNvPr id="14" name="Shape 10"/>
          <p:cNvSpPr/>
          <p:nvPr/>
        </p:nvSpPr>
        <p:spPr>
          <a:xfrm>
            <a:off x="4434840" y="2560320"/>
            <a:ext cx="0" cy="530352"/>
          </a:xfrm>
          <a:prstGeom prst="line">
            <a:avLst/>
          </a:prstGeom>
          <a:noFill/>
          <a:ln w="12700">
            <a:solidFill>
              <a:srgbClr val="E1E7F0"/>
            </a:solidFill>
            <a:prstDash val="solid"/>
          </a:ln>
        </p:spPr>
      </p:sp>
      <p:sp>
        <p:nvSpPr>
          <p:cNvPr id="15" name="Text 11"/>
          <p:cNvSpPr/>
          <p:nvPr/>
        </p:nvSpPr>
        <p:spPr>
          <a:xfrm>
            <a:off x="4663440" y="2523744"/>
            <a:ext cx="6766560" cy="621792"/>
          </a:xfrm>
          <a:prstGeom prst="rect">
            <a:avLst/>
          </a:prstGeom>
          <a:noFill/>
          <a:ln/>
        </p:spPr>
        <p:txBody>
          <a:bodyPr wrap="square" rtlCol="0" anchor="ctr"/>
          <a:lstStyle/>
          <a:p>
            <a:pPr marL="0" indent="0">
              <a:lnSpc>
                <a:spcPts val="1500"/>
              </a:lnSpc>
              <a:buNone/>
            </a:pPr>
            <a:r>
              <a:rPr lang="en-US" sz="1200" dirty="0">
                <a:solidFill>
                  <a:srgbClr val="5B6B82"/>
                </a:solidFill>
                <a:latin typeface="Calibri" pitchFamily="34" charset="0"/>
                <a:ea typeface="Calibri" pitchFamily="34" charset="-122"/>
                <a:cs typeface="Calibri" pitchFamily="34" charset="-120"/>
              </a:rPr>
              <a:t>MFA everywhere, offline backups, network segmentation</a:t>
            </a:r>
            <a:endParaRPr lang="en-US" sz="1200" dirty="0"/>
          </a:p>
        </p:txBody>
      </p:sp>
      <p:sp>
        <p:nvSpPr>
          <p:cNvPr id="16" name="Shape 12"/>
          <p:cNvSpPr/>
          <p:nvPr/>
        </p:nvSpPr>
        <p:spPr>
          <a:xfrm>
            <a:off x="548640" y="3346704"/>
            <a:ext cx="11064240" cy="768096"/>
          </a:xfrm>
          <a:prstGeom prst="roundRect">
            <a:avLst>
              <a:gd name="adj" fmla="val 7143"/>
            </a:avLst>
          </a:prstGeom>
          <a:solidFill>
            <a:srgbClr val="F3F6FA"/>
          </a:solidFill>
          <a:ln/>
        </p:spPr>
      </p:sp>
      <p:sp>
        <p:nvSpPr>
          <p:cNvPr id="17" name="Shape 13"/>
          <p:cNvSpPr/>
          <p:nvPr/>
        </p:nvSpPr>
        <p:spPr>
          <a:xfrm>
            <a:off x="749808" y="3474720"/>
            <a:ext cx="512064" cy="512064"/>
          </a:xfrm>
          <a:prstGeom prst="ellipse">
            <a:avLst/>
          </a:prstGeom>
          <a:solidFill>
            <a:srgbClr val="0B1F3A"/>
          </a:solidFill>
          <a:ln/>
        </p:spPr>
      </p:sp>
      <p:pic>
        <p:nvPicPr>
          <p:cNvPr id="18" name="Image 2" descr="/home/claude/deck/icon_cloud.png"/>
          <p:cNvPicPr>
            <a:picLocks noChangeAspect="1"/>
          </p:cNvPicPr>
          <p:nvPr/>
        </p:nvPicPr>
        <p:blipFill>
          <a:blip r:embed="rId5"/>
          <a:stretch>
            <a:fillRect/>
          </a:stretch>
        </p:blipFill>
        <p:spPr>
          <a:xfrm>
            <a:off x="868680" y="3593592"/>
            <a:ext cx="274320" cy="274320"/>
          </a:xfrm>
          <a:prstGeom prst="rect">
            <a:avLst/>
          </a:prstGeom>
        </p:spPr>
      </p:pic>
      <p:sp>
        <p:nvSpPr>
          <p:cNvPr id="19" name="Text 14"/>
          <p:cNvSpPr/>
          <p:nvPr/>
        </p:nvSpPr>
        <p:spPr>
          <a:xfrm>
            <a:off x="1463040" y="3419856"/>
            <a:ext cx="2834640" cy="621792"/>
          </a:xfrm>
          <a:prstGeom prst="rect">
            <a:avLst/>
          </a:prstGeom>
          <a:noFill/>
          <a:ln/>
        </p:spPr>
        <p:txBody>
          <a:bodyPr wrap="square" rtlCol="0" anchor="ctr"/>
          <a:lstStyle/>
          <a:p>
            <a:pPr marL="0" indent="0">
              <a:buNone/>
            </a:pPr>
            <a:r>
              <a:rPr lang="en-US" sz="1350" b="1" dirty="0">
                <a:solidFill>
                  <a:srgbClr val="16233A"/>
                </a:solidFill>
                <a:latin typeface="Calibri" pitchFamily="34" charset="0"/>
                <a:ea typeface="Calibri" pitchFamily="34" charset="-122"/>
                <a:cs typeface="Calibri" pitchFamily="34" charset="-120"/>
              </a:rPr>
              <a:t>Cloud Misconfigurations</a:t>
            </a:r>
            <a:endParaRPr lang="en-US" sz="1350" dirty="0"/>
          </a:p>
        </p:txBody>
      </p:sp>
      <p:sp>
        <p:nvSpPr>
          <p:cNvPr id="20" name="Shape 15"/>
          <p:cNvSpPr/>
          <p:nvPr/>
        </p:nvSpPr>
        <p:spPr>
          <a:xfrm>
            <a:off x="4434840" y="3456432"/>
            <a:ext cx="0" cy="530352"/>
          </a:xfrm>
          <a:prstGeom prst="line">
            <a:avLst/>
          </a:prstGeom>
          <a:noFill/>
          <a:ln w="12700">
            <a:solidFill>
              <a:srgbClr val="E1E7F0"/>
            </a:solidFill>
            <a:prstDash val="solid"/>
          </a:ln>
        </p:spPr>
      </p:sp>
      <p:sp>
        <p:nvSpPr>
          <p:cNvPr id="21" name="Text 16"/>
          <p:cNvSpPr/>
          <p:nvPr/>
        </p:nvSpPr>
        <p:spPr>
          <a:xfrm>
            <a:off x="4663440" y="3419856"/>
            <a:ext cx="6766560" cy="621792"/>
          </a:xfrm>
          <a:prstGeom prst="rect">
            <a:avLst/>
          </a:prstGeom>
          <a:noFill/>
          <a:ln/>
        </p:spPr>
        <p:txBody>
          <a:bodyPr wrap="square" rtlCol="0" anchor="ctr"/>
          <a:lstStyle/>
          <a:p>
            <a:pPr marL="0" indent="0">
              <a:lnSpc>
                <a:spcPts val="1500"/>
              </a:lnSpc>
              <a:buNone/>
            </a:pPr>
            <a:r>
              <a:rPr lang="en-US" sz="1200" dirty="0">
                <a:solidFill>
                  <a:srgbClr val="5B6B82"/>
                </a:solidFill>
                <a:latin typeface="Calibri" pitchFamily="34" charset="0"/>
                <a:ea typeface="Calibri" pitchFamily="34" charset="-122"/>
                <a:cs typeface="Calibri" pitchFamily="34" charset="-120"/>
              </a:rPr>
              <a:t>CSPM monitoring, least-privilege IAM, encryption by default</a:t>
            </a:r>
            <a:endParaRPr lang="en-US" sz="1200" dirty="0"/>
          </a:p>
        </p:txBody>
      </p:sp>
      <p:sp>
        <p:nvSpPr>
          <p:cNvPr id="22" name="Shape 17"/>
          <p:cNvSpPr/>
          <p:nvPr/>
        </p:nvSpPr>
        <p:spPr>
          <a:xfrm>
            <a:off x="548640" y="4242816"/>
            <a:ext cx="11064240" cy="768096"/>
          </a:xfrm>
          <a:prstGeom prst="roundRect">
            <a:avLst>
              <a:gd name="adj" fmla="val 7143"/>
            </a:avLst>
          </a:prstGeom>
          <a:solidFill>
            <a:srgbClr val="F3F6FA"/>
          </a:solidFill>
          <a:ln/>
        </p:spPr>
      </p:sp>
      <p:sp>
        <p:nvSpPr>
          <p:cNvPr id="23" name="Shape 18"/>
          <p:cNvSpPr/>
          <p:nvPr/>
        </p:nvSpPr>
        <p:spPr>
          <a:xfrm>
            <a:off x="749808" y="4370832"/>
            <a:ext cx="512064" cy="512064"/>
          </a:xfrm>
          <a:prstGeom prst="ellipse">
            <a:avLst/>
          </a:prstGeom>
          <a:solidFill>
            <a:srgbClr val="0B1F3A"/>
          </a:solidFill>
          <a:ln/>
        </p:spPr>
      </p:sp>
      <p:pic>
        <p:nvPicPr>
          <p:cNvPr id="24" name="Image 3" descr="/home/claude/deck/icon_wifi.png"/>
          <p:cNvPicPr>
            <a:picLocks noChangeAspect="1"/>
          </p:cNvPicPr>
          <p:nvPr/>
        </p:nvPicPr>
        <p:blipFill>
          <a:blip r:embed="rId6"/>
          <a:stretch>
            <a:fillRect/>
          </a:stretch>
        </p:blipFill>
        <p:spPr>
          <a:xfrm>
            <a:off x="868680" y="4489704"/>
            <a:ext cx="274320" cy="274320"/>
          </a:xfrm>
          <a:prstGeom prst="rect">
            <a:avLst/>
          </a:prstGeom>
        </p:spPr>
      </p:pic>
      <p:sp>
        <p:nvSpPr>
          <p:cNvPr id="25" name="Text 19"/>
          <p:cNvSpPr/>
          <p:nvPr/>
        </p:nvSpPr>
        <p:spPr>
          <a:xfrm>
            <a:off x="1463040" y="4315968"/>
            <a:ext cx="2834640" cy="621792"/>
          </a:xfrm>
          <a:prstGeom prst="rect">
            <a:avLst/>
          </a:prstGeom>
          <a:noFill/>
          <a:ln/>
        </p:spPr>
        <p:txBody>
          <a:bodyPr wrap="square" rtlCol="0" anchor="ctr"/>
          <a:lstStyle/>
          <a:p>
            <a:pPr marL="0" indent="0">
              <a:buNone/>
            </a:pPr>
            <a:r>
              <a:rPr lang="en-US" sz="1350" b="1" dirty="0">
                <a:solidFill>
                  <a:srgbClr val="16233A"/>
                </a:solidFill>
                <a:latin typeface="Calibri" pitchFamily="34" charset="0"/>
                <a:ea typeface="Calibri" pitchFamily="34" charset="-122"/>
                <a:cs typeface="Calibri" pitchFamily="34" charset="-120"/>
              </a:rPr>
              <a:t>IoT Vulnerabilities</a:t>
            </a:r>
            <a:endParaRPr lang="en-US" sz="1350" dirty="0"/>
          </a:p>
        </p:txBody>
      </p:sp>
      <p:sp>
        <p:nvSpPr>
          <p:cNvPr id="26" name="Shape 20"/>
          <p:cNvSpPr/>
          <p:nvPr/>
        </p:nvSpPr>
        <p:spPr>
          <a:xfrm>
            <a:off x="4434840" y="4352544"/>
            <a:ext cx="0" cy="530352"/>
          </a:xfrm>
          <a:prstGeom prst="line">
            <a:avLst/>
          </a:prstGeom>
          <a:noFill/>
          <a:ln w="12700">
            <a:solidFill>
              <a:srgbClr val="E1E7F0"/>
            </a:solidFill>
            <a:prstDash val="solid"/>
          </a:ln>
        </p:spPr>
      </p:sp>
      <p:sp>
        <p:nvSpPr>
          <p:cNvPr id="27" name="Text 21"/>
          <p:cNvSpPr/>
          <p:nvPr/>
        </p:nvSpPr>
        <p:spPr>
          <a:xfrm>
            <a:off x="4663440" y="4315968"/>
            <a:ext cx="6766560" cy="621792"/>
          </a:xfrm>
          <a:prstGeom prst="rect">
            <a:avLst/>
          </a:prstGeom>
          <a:noFill/>
          <a:ln/>
        </p:spPr>
        <p:txBody>
          <a:bodyPr wrap="square" rtlCol="0" anchor="ctr"/>
          <a:lstStyle/>
          <a:p>
            <a:pPr marL="0" indent="0">
              <a:lnSpc>
                <a:spcPts val="1500"/>
              </a:lnSpc>
              <a:buNone/>
            </a:pPr>
            <a:r>
              <a:rPr lang="en-US" sz="1200" dirty="0">
                <a:solidFill>
                  <a:srgbClr val="5B6B82"/>
                </a:solidFill>
                <a:latin typeface="Calibri" pitchFamily="34" charset="0"/>
                <a:ea typeface="Calibri" pitchFamily="34" charset="-122"/>
                <a:cs typeface="Calibri" pitchFamily="34" charset="-120"/>
              </a:rPr>
              <a:t>Change default credentials, network segmentation, timely firmware updates</a:t>
            </a:r>
            <a:endParaRPr lang="en-US" sz="1200" dirty="0"/>
          </a:p>
        </p:txBody>
      </p:sp>
      <p:sp>
        <p:nvSpPr>
          <p:cNvPr id="28" name="Shape 22"/>
          <p:cNvSpPr/>
          <p:nvPr/>
        </p:nvSpPr>
        <p:spPr>
          <a:xfrm>
            <a:off x="548640" y="5138928"/>
            <a:ext cx="11064240" cy="768096"/>
          </a:xfrm>
          <a:prstGeom prst="roundRect">
            <a:avLst>
              <a:gd name="adj" fmla="val 7143"/>
            </a:avLst>
          </a:prstGeom>
          <a:solidFill>
            <a:srgbClr val="F3F6FA"/>
          </a:solidFill>
          <a:ln/>
        </p:spPr>
      </p:sp>
      <p:sp>
        <p:nvSpPr>
          <p:cNvPr id="29" name="Shape 23"/>
          <p:cNvSpPr/>
          <p:nvPr/>
        </p:nvSpPr>
        <p:spPr>
          <a:xfrm>
            <a:off x="749808" y="5266944"/>
            <a:ext cx="512064" cy="512064"/>
          </a:xfrm>
          <a:prstGeom prst="ellipse">
            <a:avLst/>
          </a:prstGeom>
          <a:solidFill>
            <a:srgbClr val="0B1F3A"/>
          </a:solidFill>
          <a:ln/>
        </p:spPr>
      </p:sp>
      <p:pic>
        <p:nvPicPr>
          <p:cNvPr id="30" name="Image 4" descr="/home/claude/deck/icon_bug.png"/>
          <p:cNvPicPr>
            <a:picLocks noChangeAspect="1"/>
          </p:cNvPicPr>
          <p:nvPr/>
        </p:nvPicPr>
        <p:blipFill>
          <a:blip r:embed="rId7"/>
          <a:stretch>
            <a:fillRect/>
          </a:stretch>
        </p:blipFill>
        <p:spPr>
          <a:xfrm>
            <a:off x="868680" y="5385816"/>
            <a:ext cx="274320" cy="274320"/>
          </a:xfrm>
          <a:prstGeom prst="rect">
            <a:avLst/>
          </a:prstGeom>
        </p:spPr>
      </p:pic>
      <p:sp>
        <p:nvSpPr>
          <p:cNvPr id="31" name="Text 24"/>
          <p:cNvSpPr/>
          <p:nvPr/>
        </p:nvSpPr>
        <p:spPr>
          <a:xfrm>
            <a:off x="1463040" y="5212080"/>
            <a:ext cx="2834640" cy="621792"/>
          </a:xfrm>
          <a:prstGeom prst="rect">
            <a:avLst/>
          </a:prstGeom>
          <a:noFill/>
          <a:ln/>
        </p:spPr>
        <p:txBody>
          <a:bodyPr wrap="square" rtlCol="0" anchor="ctr"/>
          <a:lstStyle/>
          <a:p>
            <a:pPr marL="0" indent="0">
              <a:buNone/>
            </a:pPr>
            <a:r>
              <a:rPr lang="en-US" sz="1350" b="1" dirty="0">
                <a:solidFill>
                  <a:srgbClr val="16233A"/>
                </a:solidFill>
                <a:latin typeface="Calibri" pitchFamily="34" charset="0"/>
                <a:ea typeface="Calibri" pitchFamily="34" charset="-122"/>
                <a:cs typeface="Calibri" pitchFamily="34" charset="-120"/>
              </a:rPr>
              <a:t>Zero-Day Exploits</a:t>
            </a:r>
            <a:endParaRPr lang="en-US" sz="1350" dirty="0"/>
          </a:p>
        </p:txBody>
      </p:sp>
      <p:sp>
        <p:nvSpPr>
          <p:cNvPr id="32" name="Shape 25"/>
          <p:cNvSpPr/>
          <p:nvPr/>
        </p:nvSpPr>
        <p:spPr>
          <a:xfrm>
            <a:off x="4434840" y="5248656"/>
            <a:ext cx="0" cy="530352"/>
          </a:xfrm>
          <a:prstGeom prst="line">
            <a:avLst/>
          </a:prstGeom>
          <a:noFill/>
          <a:ln w="12700">
            <a:solidFill>
              <a:srgbClr val="E1E7F0"/>
            </a:solidFill>
            <a:prstDash val="solid"/>
          </a:ln>
        </p:spPr>
      </p:sp>
      <p:sp>
        <p:nvSpPr>
          <p:cNvPr id="33" name="Text 26"/>
          <p:cNvSpPr/>
          <p:nvPr/>
        </p:nvSpPr>
        <p:spPr>
          <a:xfrm>
            <a:off x="4663440" y="5212080"/>
            <a:ext cx="6766560" cy="621792"/>
          </a:xfrm>
          <a:prstGeom prst="rect">
            <a:avLst/>
          </a:prstGeom>
          <a:noFill/>
          <a:ln/>
        </p:spPr>
        <p:txBody>
          <a:bodyPr wrap="square" rtlCol="0" anchor="ctr"/>
          <a:lstStyle/>
          <a:p>
            <a:pPr marL="0" indent="0">
              <a:lnSpc>
                <a:spcPts val="1500"/>
              </a:lnSpc>
              <a:buNone/>
            </a:pPr>
            <a:r>
              <a:rPr lang="en-US" sz="1200" dirty="0">
                <a:solidFill>
                  <a:srgbClr val="5B6B82"/>
                </a:solidFill>
                <a:latin typeface="Calibri" pitchFamily="34" charset="0"/>
                <a:ea typeface="Calibri" pitchFamily="34" charset="-122"/>
                <a:cs typeface="Calibri" pitchFamily="34" charset="-120"/>
              </a:rPr>
              <a:t>IDS/IPS and WAF layers, rapid patch management, minimal attack surface</a:t>
            </a:r>
            <a:endParaRPr lang="en-US" sz="1200" dirty="0"/>
          </a:p>
        </p:txBody>
      </p:sp>
      <p:sp>
        <p:nvSpPr>
          <p:cNvPr id="34" name="Text 27"/>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0D9C0"/>
                </a:solidFill>
                <a:latin typeface="Calibri" pitchFamily="34" charset="0"/>
                <a:ea typeface="Calibri" pitchFamily="34" charset="-122"/>
                <a:cs typeface="Calibri" pitchFamily="34" charset="-120"/>
              </a:rPr>
              <a:t>04 · CONCLUSION</a:t>
            </a:r>
            <a:endParaRPr lang="en-US" sz="1200" dirty="0"/>
          </a:p>
        </p:txBody>
      </p:sp>
      <p:sp>
        <p:nvSpPr>
          <p:cNvPr id="3" name="Text 1"/>
          <p:cNvSpPr/>
          <p:nvPr/>
        </p:nvSpPr>
        <p:spPr>
          <a:xfrm>
            <a:off x="548640" y="685800"/>
            <a:ext cx="10058400" cy="5943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Proactive Security Is No Longer Optional</a:t>
            </a:r>
            <a:endParaRPr lang="en-US" sz="3000" dirty="0"/>
          </a:p>
        </p:txBody>
      </p:sp>
      <p:sp>
        <p:nvSpPr>
          <p:cNvPr id="4" name="Text 2"/>
          <p:cNvSpPr/>
          <p:nvPr/>
        </p:nvSpPr>
        <p:spPr>
          <a:xfrm>
            <a:off x="548640" y="1417320"/>
            <a:ext cx="10607040" cy="777240"/>
          </a:xfrm>
          <a:prstGeom prst="rect">
            <a:avLst/>
          </a:prstGeom>
          <a:noFill/>
          <a:ln/>
        </p:spPr>
        <p:txBody>
          <a:bodyPr wrap="square" rtlCol="0" anchor="ctr"/>
          <a:lstStyle/>
          <a:p>
            <a:pPr marL="0" indent="0">
              <a:lnSpc>
                <a:spcPts val="1800"/>
              </a:lnSpc>
              <a:buNone/>
            </a:pPr>
            <a:r>
              <a:rPr lang="en-US" sz="1350" dirty="0">
                <a:solidFill>
                  <a:srgbClr val="AFC2D9"/>
                </a:solidFill>
                <a:latin typeface="Calibri" pitchFamily="34" charset="0"/>
                <a:ea typeface="Calibri" pitchFamily="34" charset="-122"/>
                <a:cs typeface="Calibri" pitchFamily="34" charset="-120"/>
              </a:rPr>
              <a:t>Every threat in this report shares a common thread: attackers exploit the gap between how fast technology changes and how slowly defenses are updated. AI has now compressed that gap further, making yesterday's best practices insufficient on their own.</a:t>
            </a:r>
            <a:endParaRPr lang="en-US" sz="1350" dirty="0"/>
          </a:p>
        </p:txBody>
      </p:sp>
      <p:sp>
        <p:nvSpPr>
          <p:cNvPr id="5" name="Shape 3"/>
          <p:cNvSpPr/>
          <p:nvPr/>
        </p:nvSpPr>
        <p:spPr>
          <a:xfrm>
            <a:off x="548640" y="2423160"/>
            <a:ext cx="3520440" cy="3108960"/>
          </a:xfrm>
          <a:prstGeom prst="roundRect">
            <a:avLst>
              <a:gd name="adj" fmla="val 2353"/>
            </a:avLst>
          </a:prstGeom>
          <a:solidFill>
            <a:srgbClr val="13294B"/>
          </a:solidFill>
          <a:ln/>
        </p:spPr>
      </p:sp>
      <p:sp>
        <p:nvSpPr>
          <p:cNvPr id="6" name="Shape 4"/>
          <p:cNvSpPr/>
          <p:nvPr/>
        </p:nvSpPr>
        <p:spPr>
          <a:xfrm>
            <a:off x="777240" y="2697480"/>
            <a:ext cx="548640" cy="548640"/>
          </a:xfrm>
          <a:prstGeom prst="ellipse">
            <a:avLst/>
          </a:prstGeom>
          <a:solidFill>
            <a:srgbClr val="00D9C0"/>
          </a:solidFill>
          <a:ln/>
        </p:spPr>
      </p:sp>
      <p:pic>
        <p:nvPicPr>
          <p:cNvPr id="7" name="Image 0" descr="/home/claude/deck/icon_sync.png"/>
          <p:cNvPicPr>
            <a:picLocks noChangeAspect="1"/>
          </p:cNvPicPr>
          <p:nvPr/>
        </p:nvPicPr>
        <p:blipFill>
          <a:blip r:embed="rId3"/>
          <a:stretch>
            <a:fillRect/>
          </a:stretch>
        </p:blipFill>
        <p:spPr>
          <a:xfrm>
            <a:off x="905256" y="2825496"/>
            <a:ext cx="292608" cy="292608"/>
          </a:xfrm>
          <a:prstGeom prst="rect">
            <a:avLst/>
          </a:prstGeom>
        </p:spPr>
      </p:pic>
      <p:sp>
        <p:nvSpPr>
          <p:cNvPr id="8" name="Text 5"/>
          <p:cNvSpPr/>
          <p:nvPr/>
        </p:nvSpPr>
        <p:spPr>
          <a:xfrm>
            <a:off x="777240" y="3429000"/>
            <a:ext cx="3063240" cy="54864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Security Is Continuous</a:t>
            </a:r>
            <a:endParaRPr lang="en-US" sz="1450" dirty="0"/>
          </a:p>
        </p:txBody>
      </p:sp>
      <p:sp>
        <p:nvSpPr>
          <p:cNvPr id="9" name="Text 6"/>
          <p:cNvSpPr/>
          <p:nvPr/>
        </p:nvSpPr>
        <p:spPr>
          <a:xfrm>
            <a:off x="777240" y="3931920"/>
            <a:ext cx="3063240" cy="1463040"/>
          </a:xfrm>
          <a:prstGeom prst="rect">
            <a:avLst/>
          </a:prstGeom>
          <a:noFill/>
          <a:ln/>
        </p:spPr>
        <p:txBody>
          <a:bodyPr wrap="square" rtlCol="0" anchor="ctr"/>
          <a:lstStyle/>
          <a:p>
            <a:pPr marL="0" indent="0">
              <a:lnSpc>
                <a:spcPts val="1600"/>
              </a:lnSpc>
              <a:buNone/>
            </a:pPr>
            <a:r>
              <a:rPr lang="en-US" sz="1150" dirty="0">
                <a:solidFill>
                  <a:srgbClr val="AFC2D9"/>
                </a:solidFill>
                <a:latin typeface="Calibri" pitchFamily="34" charset="0"/>
                <a:ea typeface="Calibri" pitchFamily="34" charset="-122"/>
                <a:cs typeface="Calibri" pitchFamily="34" charset="-120"/>
              </a:rPr>
              <a:t>One-time fixes don't work against threats that evolve monthly — defense must be an ongoing practice, not a project.</a:t>
            </a:r>
            <a:endParaRPr lang="en-US" sz="1150" dirty="0"/>
          </a:p>
        </p:txBody>
      </p:sp>
      <p:sp>
        <p:nvSpPr>
          <p:cNvPr id="10" name="Shape 7"/>
          <p:cNvSpPr/>
          <p:nvPr/>
        </p:nvSpPr>
        <p:spPr>
          <a:xfrm>
            <a:off x="4297680" y="2423160"/>
            <a:ext cx="3520440" cy="3108960"/>
          </a:xfrm>
          <a:prstGeom prst="roundRect">
            <a:avLst>
              <a:gd name="adj" fmla="val 2353"/>
            </a:avLst>
          </a:prstGeom>
          <a:solidFill>
            <a:srgbClr val="13294B"/>
          </a:solidFill>
          <a:ln/>
        </p:spPr>
      </p:sp>
      <p:sp>
        <p:nvSpPr>
          <p:cNvPr id="11" name="Shape 8"/>
          <p:cNvSpPr/>
          <p:nvPr/>
        </p:nvSpPr>
        <p:spPr>
          <a:xfrm>
            <a:off x="4526280" y="2697480"/>
            <a:ext cx="548640" cy="548640"/>
          </a:xfrm>
          <a:prstGeom prst="ellipse">
            <a:avLst/>
          </a:prstGeom>
          <a:solidFill>
            <a:srgbClr val="00D9C0"/>
          </a:solidFill>
          <a:ln/>
        </p:spPr>
      </p:sp>
      <p:pic>
        <p:nvPicPr>
          <p:cNvPr id="12" name="Image 1" descr="/home/claude/deck/icon_shield.png"/>
          <p:cNvPicPr>
            <a:picLocks noChangeAspect="1"/>
          </p:cNvPicPr>
          <p:nvPr/>
        </p:nvPicPr>
        <p:blipFill>
          <a:blip r:embed="rId4"/>
          <a:stretch>
            <a:fillRect/>
          </a:stretch>
        </p:blipFill>
        <p:spPr>
          <a:xfrm>
            <a:off x="4654296" y="2825496"/>
            <a:ext cx="292608" cy="292608"/>
          </a:xfrm>
          <a:prstGeom prst="rect">
            <a:avLst/>
          </a:prstGeom>
        </p:spPr>
      </p:pic>
      <p:sp>
        <p:nvSpPr>
          <p:cNvPr id="13" name="Text 9"/>
          <p:cNvSpPr/>
          <p:nvPr/>
        </p:nvSpPr>
        <p:spPr>
          <a:xfrm>
            <a:off x="4526280" y="3429000"/>
            <a:ext cx="3063240" cy="54864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Layered Defense Wins</a:t>
            </a:r>
            <a:endParaRPr lang="en-US" sz="1450" dirty="0"/>
          </a:p>
        </p:txBody>
      </p:sp>
      <p:sp>
        <p:nvSpPr>
          <p:cNvPr id="14" name="Text 10"/>
          <p:cNvSpPr/>
          <p:nvPr/>
        </p:nvSpPr>
        <p:spPr>
          <a:xfrm>
            <a:off x="4526280" y="3931920"/>
            <a:ext cx="3063240" cy="1463040"/>
          </a:xfrm>
          <a:prstGeom prst="rect">
            <a:avLst/>
          </a:prstGeom>
          <a:noFill/>
          <a:ln/>
        </p:spPr>
        <p:txBody>
          <a:bodyPr wrap="square" rtlCol="0" anchor="ctr"/>
          <a:lstStyle/>
          <a:p>
            <a:pPr marL="0" indent="0">
              <a:lnSpc>
                <a:spcPts val="1600"/>
              </a:lnSpc>
              <a:buNone/>
            </a:pPr>
            <a:r>
              <a:rPr lang="en-US" sz="1150" dirty="0">
                <a:solidFill>
                  <a:srgbClr val="AFC2D9"/>
                </a:solidFill>
                <a:latin typeface="Calibri" pitchFamily="34" charset="0"/>
                <a:ea typeface="Calibri" pitchFamily="34" charset="-122"/>
                <a:cs typeface="Calibri" pitchFamily="34" charset="-120"/>
              </a:rPr>
              <a:t>No single control stops every threat; MFA, monitoring, training, and patching work together, not in isolation.</a:t>
            </a:r>
            <a:endParaRPr lang="en-US" sz="1150" dirty="0"/>
          </a:p>
        </p:txBody>
      </p:sp>
      <p:sp>
        <p:nvSpPr>
          <p:cNvPr id="15" name="Shape 11"/>
          <p:cNvSpPr/>
          <p:nvPr/>
        </p:nvSpPr>
        <p:spPr>
          <a:xfrm>
            <a:off x="8046720" y="2423160"/>
            <a:ext cx="3520440" cy="3108960"/>
          </a:xfrm>
          <a:prstGeom prst="roundRect">
            <a:avLst>
              <a:gd name="adj" fmla="val 2353"/>
            </a:avLst>
          </a:prstGeom>
          <a:solidFill>
            <a:srgbClr val="13294B"/>
          </a:solidFill>
          <a:ln/>
        </p:spPr>
      </p:sp>
      <p:sp>
        <p:nvSpPr>
          <p:cNvPr id="16" name="Shape 12"/>
          <p:cNvSpPr/>
          <p:nvPr/>
        </p:nvSpPr>
        <p:spPr>
          <a:xfrm>
            <a:off x="8275320" y="2697480"/>
            <a:ext cx="548640" cy="548640"/>
          </a:xfrm>
          <a:prstGeom prst="ellipse">
            <a:avLst/>
          </a:prstGeom>
          <a:solidFill>
            <a:srgbClr val="00D9C0"/>
          </a:solidFill>
          <a:ln/>
        </p:spPr>
      </p:sp>
      <p:pic>
        <p:nvPicPr>
          <p:cNvPr id="17" name="Image 2" descr="/home/claude/deck/icon_chart.png"/>
          <p:cNvPicPr>
            <a:picLocks noChangeAspect="1"/>
          </p:cNvPicPr>
          <p:nvPr/>
        </p:nvPicPr>
        <p:blipFill>
          <a:blip r:embed="rId5"/>
          <a:stretch>
            <a:fillRect/>
          </a:stretch>
        </p:blipFill>
        <p:spPr>
          <a:xfrm>
            <a:off x="8403336" y="2825496"/>
            <a:ext cx="292608" cy="292608"/>
          </a:xfrm>
          <a:prstGeom prst="rect">
            <a:avLst/>
          </a:prstGeom>
        </p:spPr>
      </p:pic>
      <p:sp>
        <p:nvSpPr>
          <p:cNvPr id="18" name="Text 13"/>
          <p:cNvSpPr/>
          <p:nvPr/>
        </p:nvSpPr>
        <p:spPr>
          <a:xfrm>
            <a:off x="8275320" y="3429000"/>
            <a:ext cx="3063240" cy="54864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People Remain the Front Line</a:t>
            </a:r>
            <a:endParaRPr lang="en-US" sz="1450" dirty="0"/>
          </a:p>
        </p:txBody>
      </p:sp>
      <p:sp>
        <p:nvSpPr>
          <p:cNvPr id="19" name="Text 14"/>
          <p:cNvSpPr/>
          <p:nvPr/>
        </p:nvSpPr>
        <p:spPr>
          <a:xfrm>
            <a:off x="8275320" y="3931920"/>
            <a:ext cx="3063240" cy="1463040"/>
          </a:xfrm>
          <a:prstGeom prst="rect">
            <a:avLst/>
          </a:prstGeom>
          <a:noFill/>
          <a:ln/>
        </p:spPr>
        <p:txBody>
          <a:bodyPr wrap="square" rtlCol="0" anchor="ctr"/>
          <a:lstStyle/>
          <a:p>
            <a:pPr marL="0" indent="0">
              <a:lnSpc>
                <a:spcPts val="1600"/>
              </a:lnSpc>
              <a:buNone/>
            </a:pPr>
            <a:r>
              <a:rPr lang="en-US" sz="1150" dirty="0">
                <a:solidFill>
                  <a:srgbClr val="AFC2D9"/>
                </a:solidFill>
                <a:latin typeface="Calibri" pitchFamily="34" charset="0"/>
                <a:ea typeface="Calibri" pitchFamily="34" charset="-122"/>
                <a:cs typeface="Calibri" pitchFamily="34" charset="-120"/>
              </a:rPr>
              <a:t>Most breaches in this report started with a human decision — awareness training is as critical as any technology.</a:t>
            </a:r>
            <a:endParaRPr lang="en-US" sz="1150" dirty="0"/>
          </a:p>
        </p:txBody>
      </p:sp>
      <p:sp>
        <p:nvSpPr>
          <p:cNvPr id="20" name="Text 15"/>
          <p:cNvSpPr/>
          <p:nvPr/>
        </p:nvSpPr>
        <p:spPr>
          <a:xfrm>
            <a:off x="548640" y="5806440"/>
            <a:ext cx="10789920" cy="548640"/>
          </a:xfrm>
          <a:prstGeom prst="rect">
            <a:avLst/>
          </a:prstGeom>
          <a:noFill/>
          <a:ln/>
        </p:spPr>
        <p:txBody>
          <a:bodyPr wrap="square" rtlCol="0" anchor="ctr"/>
          <a:lstStyle/>
          <a:p>
            <a:pPr marL="0" indent="0">
              <a:buNone/>
            </a:pPr>
            <a:r>
              <a:rPr lang="en-US" sz="1300" i="1" dirty="0">
                <a:solidFill>
                  <a:srgbClr val="00D9C0"/>
                </a:solidFill>
                <a:latin typeface="Calibri" pitchFamily="34" charset="0"/>
                <a:ea typeface="Calibri" pitchFamily="34" charset="-122"/>
                <a:cs typeface="Calibri" pitchFamily="34" charset="-120"/>
              </a:rPr>
              <a:t>As threats keep evolving — from deepfakes to AI-assisted zero-days — continuous learning and hands-on practice are what turn awareness into real protection.</a:t>
            </a:r>
            <a:endParaRPr lang="en-US" sz="1300" dirty="0"/>
          </a:p>
        </p:txBody>
      </p:sp>
      <p:sp>
        <p:nvSpPr>
          <p:cNvPr id="21" name="Text 16"/>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AFC2D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047C71"/>
                </a:solidFill>
                <a:latin typeface="Calibri" pitchFamily="34" charset="0"/>
                <a:ea typeface="Calibri" pitchFamily="34" charset="-122"/>
                <a:cs typeface="Calibri" pitchFamily="34" charset="-120"/>
              </a:rPr>
              <a:t>REFERENCES</a:t>
            </a:r>
            <a:endParaRPr lang="en-US" sz="1200" dirty="0"/>
          </a:p>
        </p:txBody>
      </p:sp>
      <p:sp>
        <p:nvSpPr>
          <p:cNvPr id="3" name="Text 1"/>
          <p:cNvSpPr/>
          <p:nvPr/>
        </p:nvSpPr>
        <p:spPr>
          <a:xfrm>
            <a:off x="548640" y="685800"/>
            <a:ext cx="9144000" cy="548640"/>
          </a:xfrm>
          <a:prstGeom prst="rect">
            <a:avLst/>
          </a:prstGeom>
          <a:noFill/>
          <a:ln/>
        </p:spPr>
        <p:txBody>
          <a:bodyPr wrap="square" rtlCol="0" anchor="ctr"/>
          <a:lstStyle/>
          <a:p>
            <a:pPr marL="0" indent="0">
              <a:buNone/>
            </a:pPr>
            <a:r>
              <a:rPr lang="en-US" sz="3000" b="1" dirty="0">
                <a:solidFill>
                  <a:srgbClr val="16233A"/>
                </a:solidFill>
                <a:latin typeface="Cambria" pitchFamily="34" charset="0"/>
                <a:ea typeface="Cambria" pitchFamily="34" charset="-122"/>
                <a:cs typeface="Cambria" pitchFamily="34" charset="-120"/>
              </a:rPr>
              <a:t>Sources </a:t>
            </a:r>
            <a:r>
              <a:rPr lang="en-US" sz="3000" b="1" dirty="0" smtClean="0">
                <a:solidFill>
                  <a:srgbClr val="16233A"/>
                </a:solidFill>
                <a:latin typeface="Cambria" pitchFamily="34" charset="0"/>
                <a:ea typeface="Cambria" pitchFamily="34" charset="-122"/>
                <a:cs typeface="Cambria" pitchFamily="34" charset="-120"/>
              </a:rPr>
              <a:t>(which I refer to study)</a:t>
            </a:r>
            <a:endParaRPr lang="en-US" sz="3000" dirty="0"/>
          </a:p>
        </p:txBody>
      </p:sp>
      <p:sp>
        <p:nvSpPr>
          <p:cNvPr id="4" name="Shape 2"/>
          <p:cNvSpPr/>
          <p:nvPr/>
        </p:nvSpPr>
        <p:spPr>
          <a:xfrm>
            <a:off x="594360" y="1682496"/>
            <a:ext cx="82296" cy="82296"/>
          </a:xfrm>
          <a:prstGeom prst="ellipse">
            <a:avLst/>
          </a:prstGeom>
          <a:solidFill>
            <a:srgbClr val="047C71"/>
          </a:solidFill>
          <a:ln/>
        </p:spPr>
      </p:sp>
      <p:sp>
        <p:nvSpPr>
          <p:cNvPr id="5" name="Text 3"/>
          <p:cNvSpPr/>
          <p:nvPr/>
        </p:nvSpPr>
        <p:spPr>
          <a:xfrm>
            <a:off x="868680" y="1600200"/>
            <a:ext cx="10607040" cy="365760"/>
          </a:xfrm>
          <a:prstGeom prst="rect">
            <a:avLst/>
          </a:prstGeom>
          <a:noFill/>
          <a:ln/>
        </p:spPr>
        <p:txBody>
          <a:bodyPr wrap="square" rtlCol="0" anchor="ctr"/>
          <a:lstStyle/>
          <a:p>
            <a:r>
              <a:rPr lang="en-US" sz="1300" dirty="0" smtClean="0">
                <a:solidFill>
                  <a:srgbClr val="16233A"/>
                </a:solidFill>
                <a:latin typeface="Calibri" pitchFamily="34" charset="0"/>
                <a:ea typeface="Calibri" pitchFamily="34" charset="-122"/>
                <a:cs typeface="Calibri" pitchFamily="34" charset="-120"/>
              </a:rPr>
              <a:t>https</a:t>
            </a:r>
            <a:r>
              <a:rPr lang="en-US" sz="1300" dirty="0">
                <a:solidFill>
                  <a:srgbClr val="16233A"/>
                </a:solidFill>
                <a:latin typeface="Calibri" pitchFamily="34" charset="0"/>
                <a:ea typeface="Calibri" pitchFamily="34" charset="-122"/>
                <a:cs typeface="Calibri" pitchFamily="34" charset="-120"/>
              </a:rPr>
              <a:t>://www.cisa.gov/news-events/cybersecurity-advisories</a:t>
            </a:r>
            <a:endParaRPr lang="en-US" sz="1300" dirty="0"/>
          </a:p>
        </p:txBody>
      </p:sp>
      <p:sp>
        <p:nvSpPr>
          <p:cNvPr id="6" name="Shape 4"/>
          <p:cNvSpPr/>
          <p:nvPr/>
        </p:nvSpPr>
        <p:spPr>
          <a:xfrm>
            <a:off x="594360" y="2167128"/>
            <a:ext cx="82296" cy="82296"/>
          </a:xfrm>
          <a:prstGeom prst="ellipse">
            <a:avLst/>
          </a:prstGeom>
          <a:solidFill>
            <a:srgbClr val="047C71"/>
          </a:solidFill>
          <a:ln/>
        </p:spPr>
      </p:sp>
      <p:sp>
        <p:nvSpPr>
          <p:cNvPr id="7" name="Text 5"/>
          <p:cNvSpPr/>
          <p:nvPr/>
        </p:nvSpPr>
        <p:spPr>
          <a:xfrm>
            <a:off x="868680" y="2084832"/>
            <a:ext cx="10607040" cy="365760"/>
          </a:xfrm>
          <a:prstGeom prst="rect">
            <a:avLst/>
          </a:prstGeom>
          <a:noFill/>
          <a:ln/>
        </p:spPr>
        <p:txBody>
          <a:bodyPr wrap="square" rtlCol="0" anchor="ctr"/>
          <a:lstStyle/>
          <a:p>
            <a:r>
              <a:rPr lang="en-US" sz="1300" dirty="0">
                <a:solidFill>
                  <a:srgbClr val="16233A"/>
                </a:solidFill>
                <a:latin typeface="Calibri" pitchFamily="34" charset="0"/>
                <a:ea typeface="Calibri" pitchFamily="34" charset="-122"/>
                <a:cs typeface="Calibri" pitchFamily="34" charset="-120"/>
              </a:rPr>
              <a:t>https://owasp.org/www-project-top-ten/</a:t>
            </a:r>
            <a:endParaRPr lang="en-US" sz="1300" dirty="0"/>
          </a:p>
        </p:txBody>
      </p:sp>
      <p:sp>
        <p:nvSpPr>
          <p:cNvPr id="8" name="Shape 6"/>
          <p:cNvSpPr/>
          <p:nvPr/>
        </p:nvSpPr>
        <p:spPr>
          <a:xfrm>
            <a:off x="594360" y="2651760"/>
            <a:ext cx="82296" cy="82296"/>
          </a:xfrm>
          <a:prstGeom prst="ellipse">
            <a:avLst/>
          </a:prstGeom>
          <a:solidFill>
            <a:srgbClr val="047C71"/>
          </a:solidFill>
          <a:ln/>
        </p:spPr>
      </p:sp>
      <p:sp>
        <p:nvSpPr>
          <p:cNvPr id="9" name="Text 7"/>
          <p:cNvSpPr/>
          <p:nvPr/>
        </p:nvSpPr>
        <p:spPr>
          <a:xfrm>
            <a:off x="868680" y="2569464"/>
            <a:ext cx="10607040" cy="365760"/>
          </a:xfrm>
          <a:prstGeom prst="rect">
            <a:avLst/>
          </a:prstGeom>
          <a:noFill/>
          <a:ln/>
        </p:spPr>
        <p:txBody>
          <a:bodyPr wrap="square" rtlCol="0" anchor="ctr"/>
          <a:lstStyle/>
          <a:p>
            <a:r>
              <a:rPr lang="en-US" sz="1300" dirty="0">
                <a:solidFill>
                  <a:srgbClr val="16233A"/>
                </a:solidFill>
                <a:latin typeface="Calibri" pitchFamily="34" charset="0"/>
                <a:ea typeface="Calibri" pitchFamily="34" charset="-122"/>
                <a:cs typeface="Calibri" pitchFamily="34" charset="-120"/>
              </a:rPr>
              <a:t>https://www.ibm.com/x-force</a:t>
            </a:r>
            <a:endParaRPr lang="en-US" sz="1300" dirty="0"/>
          </a:p>
        </p:txBody>
      </p:sp>
      <p:sp>
        <p:nvSpPr>
          <p:cNvPr id="10" name="Shape 8"/>
          <p:cNvSpPr/>
          <p:nvPr/>
        </p:nvSpPr>
        <p:spPr>
          <a:xfrm>
            <a:off x="594360" y="3136392"/>
            <a:ext cx="82296" cy="82296"/>
          </a:xfrm>
          <a:prstGeom prst="ellipse">
            <a:avLst/>
          </a:prstGeom>
          <a:solidFill>
            <a:srgbClr val="047C71"/>
          </a:solidFill>
          <a:ln/>
        </p:spPr>
      </p:sp>
      <p:sp>
        <p:nvSpPr>
          <p:cNvPr id="11" name="Text 9"/>
          <p:cNvSpPr/>
          <p:nvPr/>
        </p:nvSpPr>
        <p:spPr>
          <a:xfrm>
            <a:off x="868680" y="3054096"/>
            <a:ext cx="10607040" cy="365760"/>
          </a:xfrm>
          <a:prstGeom prst="rect">
            <a:avLst/>
          </a:prstGeom>
          <a:noFill/>
          <a:ln/>
        </p:spPr>
        <p:txBody>
          <a:bodyPr wrap="square" rtlCol="0" anchor="ctr"/>
          <a:lstStyle/>
          <a:p>
            <a:r>
              <a:rPr lang="en-US" sz="1300" dirty="0"/>
              <a:t>https://krebsonsecurity.com/</a:t>
            </a:r>
            <a:endParaRPr lang="en-US" sz="1300" dirty="0"/>
          </a:p>
        </p:txBody>
      </p:sp>
      <p:sp>
        <p:nvSpPr>
          <p:cNvPr id="12" name="Shape 10"/>
          <p:cNvSpPr/>
          <p:nvPr/>
        </p:nvSpPr>
        <p:spPr>
          <a:xfrm>
            <a:off x="594360" y="3621024"/>
            <a:ext cx="82296" cy="82296"/>
          </a:xfrm>
          <a:prstGeom prst="ellipse">
            <a:avLst/>
          </a:prstGeom>
          <a:solidFill>
            <a:srgbClr val="047C71"/>
          </a:solidFill>
          <a:ln/>
        </p:spPr>
      </p:sp>
      <p:sp>
        <p:nvSpPr>
          <p:cNvPr id="13" name="Text 11"/>
          <p:cNvSpPr/>
          <p:nvPr/>
        </p:nvSpPr>
        <p:spPr>
          <a:xfrm>
            <a:off x="868680" y="3538728"/>
            <a:ext cx="10607040" cy="365760"/>
          </a:xfrm>
          <a:prstGeom prst="rect">
            <a:avLst/>
          </a:prstGeom>
          <a:noFill/>
          <a:ln/>
        </p:spPr>
        <p:txBody>
          <a:bodyPr wrap="square" rtlCol="0" anchor="ctr"/>
          <a:lstStyle/>
          <a:p>
            <a:r>
              <a:rPr lang="en-US" sz="1300" dirty="0"/>
              <a:t>https://www.aha.org/2024-03-15-aha-survey-change-healthcare-cyberattack-significantly-disrupts-patient-care-hospitals-finances</a:t>
            </a:r>
            <a:endParaRPr lang="en-US" sz="1300" dirty="0"/>
          </a:p>
        </p:txBody>
      </p:sp>
      <p:sp>
        <p:nvSpPr>
          <p:cNvPr id="14" name="Shape 12"/>
          <p:cNvSpPr/>
          <p:nvPr/>
        </p:nvSpPr>
        <p:spPr>
          <a:xfrm>
            <a:off x="594360" y="4105656"/>
            <a:ext cx="82296" cy="82296"/>
          </a:xfrm>
          <a:prstGeom prst="ellipse">
            <a:avLst/>
          </a:prstGeom>
          <a:solidFill>
            <a:srgbClr val="047C71"/>
          </a:solidFill>
          <a:ln/>
        </p:spPr>
      </p:sp>
      <p:sp>
        <p:nvSpPr>
          <p:cNvPr id="15" name="Text 13"/>
          <p:cNvSpPr/>
          <p:nvPr/>
        </p:nvSpPr>
        <p:spPr>
          <a:xfrm>
            <a:off x="868680" y="4023360"/>
            <a:ext cx="10607040" cy="365760"/>
          </a:xfrm>
          <a:prstGeom prst="rect">
            <a:avLst/>
          </a:prstGeom>
          <a:noFill/>
          <a:ln/>
        </p:spPr>
        <p:txBody>
          <a:bodyPr wrap="square" rtlCol="0" anchor="ctr"/>
          <a:lstStyle/>
          <a:p>
            <a:r>
              <a:rPr lang="en-US" sz="1300" dirty="0"/>
              <a:t>https://blog.cloudflare.com/ddos-threat-report-2025-q3/</a:t>
            </a:r>
            <a:endParaRPr lang="en-US" sz="1300" dirty="0"/>
          </a:p>
        </p:txBody>
      </p:sp>
      <p:sp>
        <p:nvSpPr>
          <p:cNvPr id="17" name="Text 15"/>
          <p:cNvSpPr/>
          <p:nvPr/>
        </p:nvSpPr>
        <p:spPr>
          <a:xfrm>
            <a:off x="868680" y="4507992"/>
            <a:ext cx="10607040" cy="365760"/>
          </a:xfrm>
          <a:prstGeom prst="rect">
            <a:avLst/>
          </a:prstGeom>
          <a:noFill/>
          <a:ln/>
        </p:spPr>
        <p:txBody>
          <a:bodyPr wrap="square" rtlCol="0" anchor="ctr"/>
          <a:lstStyle/>
          <a:p>
            <a:pPr marL="0" indent="0">
              <a:buNone/>
            </a:pPr>
            <a:endParaRPr lang="en-US" sz="1300" dirty="0"/>
          </a:p>
        </p:txBody>
      </p:sp>
      <p:sp>
        <p:nvSpPr>
          <p:cNvPr id="19" name="Text 17"/>
          <p:cNvSpPr/>
          <p:nvPr/>
        </p:nvSpPr>
        <p:spPr>
          <a:xfrm>
            <a:off x="635508" y="5056632"/>
            <a:ext cx="10607040" cy="365760"/>
          </a:xfrm>
          <a:prstGeom prst="rect">
            <a:avLst/>
          </a:prstGeom>
          <a:noFill/>
          <a:ln/>
        </p:spPr>
        <p:txBody>
          <a:bodyPr wrap="square" rtlCol="0" anchor="t"/>
          <a:lstStyle/>
          <a:p>
            <a:pPr algn="ctr"/>
            <a:r>
              <a:rPr lang="en-US" sz="2400" b="1" dirty="0" smtClean="0">
                <a:solidFill>
                  <a:srgbClr val="16233A"/>
                </a:solidFill>
                <a:latin typeface="Cambria" pitchFamily="34" charset="0"/>
                <a:ea typeface="Cambria" pitchFamily="34" charset="-122"/>
                <a:cs typeface="Cambria" pitchFamily="34" charset="-120"/>
              </a:rPr>
              <a:t>THANK YOU TEAM, FOR YOUR VALUABLE TIME TO REVIEW MY EFFORTS!</a:t>
            </a:r>
            <a:endParaRPr lang="en-US" sz="2400" dirty="0"/>
          </a:p>
        </p:txBody>
      </p:sp>
      <p:sp>
        <p:nvSpPr>
          <p:cNvPr id="21" name="Text 19"/>
          <p:cNvSpPr/>
          <p:nvPr/>
        </p:nvSpPr>
        <p:spPr>
          <a:xfrm>
            <a:off x="868680" y="5477256"/>
            <a:ext cx="10607040" cy="365760"/>
          </a:xfrm>
          <a:prstGeom prst="rect">
            <a:avLst/>
          </a:prstGeom>
          <a:noFill/>
          <a:ln/>
        </p:spPr>
        <p:txBody>
          <a:bodyPr wrap="square" rtlCol="0" anchor="ctr"/>
          <a:lstStyle/>
          <a:p>
            <a:pPr marL="0" indent="0">
              <a:buNone/>
            </a:pPr>
            <a:endParaRPr lang="en-US" sz="1300" dirty="0"/>
          </a:p>
        </p:txBody>
      </p:sp>
      <p:sp>
        <p:nvSpPr>
          <p:cNvPr id="22" name="Shape 20"/>
          <p:cNvSpPr/>
          <p:nvPr/>
        </p:nvSpPr>
        <p:spPr>
          <a:xfrm>
            <a:off x="548640" y="6263640"/>
            <a:ext cx="11064240" cy="0"/>
          </a:xfrm>
          <a:prstGeom prst="line">
            <a:avLst/>
          </a:prstGeom>
          <a:noFill/>
          <a:ln w="12700">
            <a:solidFill>
              <a:srgbClr val="E1E7F0"/>
            </a:solidFill>
            <a:prstDash val="solid"/>
          </a:ln>
        </p:spPr>
      </p:sp>
      <p:sp>
        <p:nvSpPr>
          <p:cNvPr id="23" name="Text 21"/>
          <p:cNvSpPr/>
          <p:nvPr/>
        </p:nvSpPr>
        <p:spPr>
          <a:xfrm>
            <a:off x="548640" y="6355080"/>
            <a:ext cx="11064240" cy="320040"/>
          </a:xfrm>
          <a:prstGeom prst="rect">
            <a:avLst/>
          </a:prstGeom>
          <a:noFill/>
          <a:ln/>
        </p:spPr>
        <p:txBody>
          <a:bodyPr wrap="square" rtlCol="0" anchor="ctr"/>
          <a:lstStyle/>
          <a:p>
            <a:pPr marL="0" indent="0">
              <a:buNone/>
            </a:pPr>
            <a:r>
              <a:rPr lang="en-US" sz="1000" dirty="0" smtClean="0">
                <a:solidFill>
                  <a:srgbClr val="5B6B82"/>
                </a:solidFill>
                <a:latin typeface="Calibri" pitchFamily="34" charset="0"/>
                <a:ea typeface="Calibri" pitchFamily="34" charset="-122"/>
                <a:cs typeface="Calibri" pitchFamily="34" charset="-120"/>
              </a:rPr>
              <a:t>								NITHIN VIGNESH S  </a:t>
            </a:r>
            <a:r>
              <a:rPr lang="en-US" sz="1000" dirty="0">
                <a:solidFill>
                  <a:srgbClr val="5B6B82"/>
                </a:solidFill>
                <a:latin typeface="Calibri" pitchFamily="34" charset="0"/>
                <a:ea typeface="Calibri" pitchFamily="34" charset="-122"/>
                <a:cs typeface="Calibri" pitchFamily="34" charset="-120"/>
              </a:rPr>
              <a:t>·  Maincrafts Technology Internship Program</a:t>
            </a:r>
            <a:endParaRPr lang="en-US" sz="1000" dirty="0"/>
          </a:p>
        </p:txBody>
      </p:sp>
      <p:sp>
        <p:nvSpPr>
          <p:cNvPr id="24" name="Text 22"/>
          <p:cNvSpPr/>
          <p:nvPr/>
        </p:nvSpPr>
        <p:spPr>
          <a:xfrm>
            <a:off x="11475720" y="6473952"/>
            <a:ext cx="548640" cy="27432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1657</Words>
  <Application>Microsoft Office PowerPoint</Application>
  <PresentationFormat>Widescreen</PresentationFormat>
  <Paragraphs>197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Nithin S</cp:lastModifiedBy>
  <cp:revision>4</cp:revision>
  <dcterms:created xsi:type="dcterms:W3CDTF">2026-08-08T03:06:47Z</dcterms:created>
  <dcterms:modified xsi:type="dcterms:W3CDTF">2026-08-08T03:31:28Z</dcterms:modified>
</cp:coreProperties>
</file>